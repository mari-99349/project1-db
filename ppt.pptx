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</p:sldIdLst>
  <p:sldSz cx="18288000" cy="10287000"/>
  <p:notesSz cx="6858000" cy="9144000"/>
  <p:embeddedFontLst>
    <p:embeddedFont>
      <p:font typeface="Alata" panose="020B0604020202020204" charset="0"/>
      <p:regular r:id="rId61"/>
    </p:embeddedFont>
    <p:embeddedFont>
      <p:font typeface="Canva Sans" panose="020B0604020202020204" charset="0"/>
      <p:regular r:id="rId62"/>
    </p:embeddedFont>
    <p:embeddedFont>
      <p:font typeface="Canva Sans Bold" panose="020B0604020202020204" charset="0"/>
      <p:regular r:id="rId63"/>
    </p:embeddedFont>
    <p:embeddedFont>
      <p:font typeface="Canva Sans Italics" panose="020B0604020202020204" charset="0"/>
      <p:regular r:id="rId64"/>
    </p:embeddedFont>
    <p:embeddedFont>
      <p:font typeface="Glacial Indifference" panose="020B0604020202020204" charset="0"/>
      <p:regular r:id="rId65"/>
    </p:embeddedFont>
    <p:embeddedFont>
      <p:font typeface="Glacial Indifference Bold" panose="020B0604020202020204" charset="0"/>
      <p:regular r:id="rId66"/>
    </p:embeddedFont>
    <p:embeddedFont>
      <p:font typeface="Glacial Indifference Italics" panose="020B0604020202020204" charset="0"/>
      <p:regular r:id="rId67"/>
    </p:embeddedFont>
    <p:embeddedFont>
      <p:font typeface="Montserrat" panose="00000500000000000000" pitchFamily="2" charset="0"/>
      <p:regular r:id="rId68"/>
      <p:bold r:id="rId69"/>
      <p:italic r:id="rId70"/>
      <p:boldItalic r:id="rId71"/>
    </p:embeddedFont>
    <p:embeddedFont>
      <p:font typeface="Montserrat Bold" panose="00000800000000000000" charset="0"/>
      <p:regular r:id="rId7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2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31.05.2026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jpe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13.jpeg"/><Relationship Id="rId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13" Type="http://schemas.openxmlformats.org/officeDocument/2006/relationships/image" Target="../media/image48.pn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23.svg"/><Relationship Id="rId9" Type="http://schemas.openxmlformats.org/officeDocument/2006/relationships/image" Target="../media/image44.png"/><Relationship Id="rId14" Type="http://schemas.openxmlformats.org/officeDocument/2006/relationships/image" Target="../media/image4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51.svg"/><Relationship Id="rId4" Type="http://schemas.openxmlformats.org/officeDocument/2006/relationships/image" Target="../media/image23.svg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Relationship Id="rId9" Type="http://schemas.openxmlformats.org/officeDocument/2006/relationships/image" Target="../media/image5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13.jpeg"/><Relationship Id="rId3" Type="http://schemas.openxmlformats.org/officeDocument/2006/relationships/image" Target="../media/image54.png"/><Relationship Id="rId7" Type="http://schemas.openxmlformats.org/officeDocument/2006/relationships/image" Target="../media/image32.png"/><Relationship Id="rId12" Type="http://schemas.openxmlformats.org/officeDocument/2006/relationships/image" Target="../media/image6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svg"/><Relationship Id="rId11" Type="http://schemas.openxmlformats.org/officeDocument/2006/relationships/image" Target="../media/image60.png"/><Relationship Id="rId5" Type="http://schemas.openxmlformats.org/officeDocument/2006/relationships/image" Target="../media/image56.png"/><Relationship Id="rId10" Type="http://schemas.openxmlformats.org/officeDocument/2006/relationships/image" Target="../media/image59.svg"/><Relationship Id="rId4" Type="http://schemas.openxmlformats.org/officeDocument/2006/relationships/image" Target="../media/image55.sv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svg"/><Relationship Id="rId3" Type="http://schemas.openxmlformats.org/officeDocument/2006/relationships/image" Target="../media/image13.jpeg"/><Relationship Id="rId7" Type="http://schemas.openxmlformats.org/officeDocument/2006/relationships/image" Target="../media/image67.svg"/><Relationship Id="rId12" Type="http://schemas.openxmlformats.org/officeDocument/2006/relationships/image" Target="../media/image72.png"/><Relationship Id="rId17" Type="http://schemas.openxmlformats.org/officeDocument/2006/relationships/image" Target="../media/image77.sv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svg"/><Relationship Id="rId5" Type="http://schemas.openxmlformats.org/officeDocument/2006/relationships/image" Target="../media/image65.svg"/><Relationship Id="rId15" Type="http://schemas.openxmlformats.org/officeDocument/2006/relationships/image" Target="../media/image75.sv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svg"/><Relationship Id="rId14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svg"/><Relationship Id="rId3" Type="http://schemas.openxmlformats.org/officeDocument/2006/relationships/image" Target="../media/image5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5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8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png"/><Relationship Id="rId5" Type="http://schemas.openxmlformats.org/officeDocument/2006/relationships/image" Target="../media/image87.svg"/><Relationship Id="rId4" Type="http://schemas.openxmlformats.org/officeDocument/2006/relationships/image" Target="../media/image8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svg"/><Relationship Id="rId7" Type="http://schemas.openxmlformats.org/officeDocument/2006/relationships/image" Target="../media/image95.sv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5" Type="http://schemas.openxmlformats.org/officeDocument/2006/relationships/image" Target="../media/image93.svg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13" Type="http://schemas.openxmlformats.org/officeDocument/2006/relationships/image" Target="../media/image101.svg"/><Relationship Id="rId18" Type="http://schemas.openxmlformats.org/officeDocument/2006/relationships/image" Target="../media/image40.png"/><Relationship Id="rId3" Type="http://schemas.openxmlformats.org/officeDocument/2006/relationships/image" Target="../media/image13.jpeg"/><Relationship Id="rId21" Type="http://schemas.openxmlformats.org/officeDocument/2006/relationships/image" Target="../media/image43.svg"/><Relationship Id="rId7" Type="http://schemas.openxmlformats.org/officeDocument/2006/relationships/image" Target="../media/image99.svg"/><Relationship Id="rId12" Type="http://schemas.openxmlformats.org/officeDocument/2006/relationships/image" Target="../media/image100.png"/><Relationship Id="rId17" Type="http://schemas.openxmlformats.org/officeDocument/2006/relationships/image" Target="../media/image49.sv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8.png"/><Relationship Id="rId20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11" Type="http://schemas.openxmlformats.org/officeDocument/2006/relationships/image" Target="../media/image15.svg"/><Relationship Id="rId5" Type="http://schemas.openxmlformats.org/officeDocument/2006/relationships/image" Target="../media/image97.svg"/><Relationship Id="rId15" Type="http://schemas.openxmlformats.org/officeDocument/2006/relationships/image" Target="../media/image47.svg"/><Relationship Id="rId10" Type="http://schemas.openxmlformats.org/officeDocument/2006/relationships/image" Target="../media/image14.png"/><Relationship Id="rId19" Type="http://schemas.openxmlformats.org/officeDocument/2006/relationships/image" Target="../media/image41.svg"/><Relationship Id="rId4" Type="http://schemas.openxmlformats.org/officeDocument/2006/relationships/image" Target="../media/image96.png"/><Relationship Id="rId9" Type="http://schemas.openxmlformats.org/officeDocument/2006/relationships/image" Target="../media/image73.svg"/><Relationship Id="rId1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22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svg"/><Relationship Id="rId5" Type="http://schemas.openxmlformats.org/officeDocument/2006/relationships/image" Target="../media/image40.png"/><Relationship Id="rId10" Type="http://schemas.openxmlformats.org/officeDocument/2006/relationships/image" Target="../media/image51.svg"/><Relationship Id="rId4" Type="http://schemas.openxmlformats.org/officeDocument/2006/relationships/image" Target="../media/image23.svg"/><Relationship Id="rId9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Relationship Id="rId9" Type="http://schemas.openxmlformats.org/officeDocument/2006/relationships/image" Target="../media/image5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3" Type="http://schemas.openxmlformats.org/officeDocument/2006/relationships/image" Target="../media/image102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svg"/><Relationship Id="rId11" Type="http://schemas.openxmlformats.org/officeDocument/2006/relationships/image" Target="../media/image13.jpeg"/><Relationship Id="rId5" Type="http://schemas.openxmlformats.org/officeDocument/2006/relationships/image" Target="../media/image104.png"/><Relationship Id="rId10" Type="http://schemas.openxmlformats.org/officeDocument/2006/relationships/image" Target="../media/image61.svg"/><Relationship Id="rId4" Type="http://schemas.openxmlformats.org/officeDocument/2006/relationships/image" Target="../media/image103.svg"/><Relationship Id="rId9" Type="http://schemas.openxmlformats.org/officeDocument/2006/relationships/image" Target="../media/image6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8.svg"/><Relationship Id="rId5" Type="http://schemas.openxmlformats.org/officeDocument/2006/relationships/image" Target="../media/image107.png"/><Relationship Id="rId4" Type="http://schemas.openxmlformats.org/officeDocument/2006/relationships/image" Target="../media/image2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svg"/><Relationship Id="rId5" Type="http://schemas.openxmlformats.org/officeDocument/2006/relationships/image" Target="../media/image111.png"/><Relationship Id="rId4" Type="http://schemas.openxmlformats.org/officeDocument/2006/relationships/image" Target="../media/image110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3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svg"/><Relationship Id="rId5" Type="http://schemas.openxmlformats.org/officeDocument/2006/relationships/image" Target="../media/image114.png"/><Relationship Id="rId4" Type="http://schemas.openxmlformats.org/officeDocument/2006/relationships/image" Target="../media/image19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6.png"/><Relationship Id="rId4" Type="http://schemas.openxmlformats.org/officeDocument/2006/relationships/image" Target="../media/image23.sv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89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33.sv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svg"/><Relationship Id="rId5" Type="http://schemas.openxmlformats.org/officeDocument/2006/relationships/image" Target="../media/image123.png"/><Relationship Id="rId4" Type="http://schemas.openxmlformats.org/officeDocument/2006/relationships/image" Target="../media/image12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6.sv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12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jpeg"/><Relationship Id="rId4" Type="http://schemas.openxmlformats.org/officeDocument/2006/relationships/image" Target="../media/image131.sv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19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4.svg"/><Relationship Id="rId5" Type="http://schemas.openxmlformats.org/officeDocument/2006/relationships/image" Target="../media/image133.png"/><Relationship Id="rId4" Type="http://schemas.openxmlformats.org/officeDocument/2006/relationships/image" Target="../media/image23.sv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svg"/><Relationship Id="rId3" Type="http://schemas.openxmlformats.org/officeDocument/2006/relationships/image" Target="../media/image18.png"/><Relationship Id="rId7" Type="http://schemas.openxmlformats.org/officeDocument/2006/relationships/image" Target="../media/image138.png"/><Relationship Id="rId12" Type="http://schemas.openxmlformats.org/officeDocument/2006/relationships/image" Target="../media/image79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svg"/><Relationship Id="rId11" Type="http://schemas.openxmlformats.org/officeDocument/2006/relationships/image" Target="../media/image78.png"/><Relationship Id="rId5" Type="http://schemas.openxmlformats.org/officeDocument/2006/relationships/image" Target="../media/image136.png"/><Relationship Id="rId10" Type="http://schemas.openxmlformats.org/officeDocument/2006/relationships/image" Target="../media/image141.svg"/><Relationship Id="rId4" Type="http://schemas.openxmlformats.org/officeDocument/2006/relationships/image" Target="../media/image19.svg"/><Relationship Id="rId9" Type="http://schemas.openxmlformats.org/officeDocument/2006/relationships/image" Target="../media/image14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svg"/><Relationship Id="rId13" Type="http://schemas.openxmlformats.org/officeDocument/2006/relationships/image" Target="../media/image153.svg"/><Relationship Id="rId3" Type="http://schemas.openxmlformats.org/officeDocument/2006/relationships/image" Target="../media/image18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11" Type="http://schemas.openxmlformats.org/officeDocument/2006/relationships/image" Target="../media/image151.svg"/><Relationship Id="rId5" Type="http://schemas.openxmlformats.org/officeDocument/2006/relationships/image" Target="../media/image26.png"/><Relationship Id="rId15" Type="http://schemas.openxmlformats.org/officeDocument/2006/relationships/image" Target="../media/image155.svg"/><Relationship Id="rId10" Type="http://schemas.openxmlformats.org/officeDocument/2006/relationships/image" Target="../media/image150.svg"/><Relationship Id="rId4" Type="http://schemas.openxmlformats.org/officeDocument/2006/relationships/image" Target="../media/image19.sv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6.png"/><Relationship Id="rId4" Type="http://schemas.openxmlformats.org/officeDocument/2006/relationships/image" Target="../media/image23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429052" y="2052504"/>
            <a:ext cx="1330281" cy="1322432"/>
          </a:xfrm>
          <a:custGeom>
            <a:avLst/>
            <a:gdLst/>
            <a:ahLst/>
            <a:cxnLst/>
            <a:rect l="l" t="t" r="r" b="b"/>
            <a:pathLst>
              <a:path w="1330281" h="1322432">
                <a:moveTo>
                  <a:pt x="0" y="0"/>
                </a:moveTo>
                <a:lnTo>
                  <a:pt x="1330281" y="0"/>
                </a:lnTo>
                <a:lnTo>
                  <a:pt x="1330281" y="1322432"/>
                </a:lnTo>
                <a:lnTo>
                  <a:pt x="0" y="13224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039419" y="2052504"/>
            <a:ext cx="7583517" cy="6268041"/>
          </a:xfrm>
          <a:custGeom>
            <a:avLst/>
            <a:gdLst/>
            <a:ahLst/>
            <a:cxnLst/>
            <a:rect l="l" t="t" r="r" b="b"/>
            <a:pathLst>
              <a:path w="7583517" h="6268041">
                <a:moveTo>
                  <a:pt x="0" y="0"/>
                </a:moveTo>
                <a:lnTo>
                  <a:pt x="7583517" y="0"/>
                </a:lnTo>
                <a:lnTo>
                  <a:pt x="7583517" y="6268041"/>
                </a:lnTo>
                <a:lnTo>
                  <a:pt x="0" y="62680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579140" y="8591274"/>
            <a:ext cx="8163563" cy="177298"/>
            <a:chOff x="0" y="0"/>
            <a:chExt cx="10884751" cy="236398"/>
          </a:xfrm>
        </p:grpSpPr>
        <p:sp>
          <p:nvSpPr>
            <p:cNvPr id="5" name="Freeform 5"/>
            <p:cNvSpPr/>
            <p:nvPr/>
          </p:nvSpPr>
          <p:spPr>
            <a:xfrm>
              <a:off x="40164" y="127"/>
              <a:ext cx="10844625" cy="236220"/>
            </a:xfrm>
            <a:custGeom>
              <a:avLst/>
              <a:gdLst/>
              <a:ahLst/>
              <a:cxnLst/>
              <a:rect l="l" t="t" r="r" b="b"/>
              <a:pathLst>
                <a:path w="10844625" h="236220">
                  <a:moveTo>
                    <a:pt x="119729" y="127"/>
                  </a:moveTo>
                  <a:cubicBezTo>
                    <a:pt x="-39910" y="127"/>
                    <a:pt x="-39910" y="236220"/>
                    <a:pt x="119729" y="236220"/>
                  </a:cubicBezTo>
                  <a:lnTo>
                    <a:pt x="10726388" y="236220"/>
                  </a:lnTo>
                  <a:cubicBezTo>
                    <a:pt x="10788999" y="236220"/>
                    <a:pt x="10844625" y="180594"/>
                    <a:pt x="10844625" y="117983"/>
                  </a:cubicBezTo>
                  <a:cubicBezTo>
                    <a:pt x="10844625" y="48514"/>
                    <a:pt x="10788999" y="0"/>
                    <a:pt x="10726388" y="0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579140" y="8591274"/>
            <a:ext cx="3568722" cy="182575"/>
            <a:chOff x="0" y="0"/>
            <a:chExt cx="4758296" cy="243434"/>
          </a:xfrm>
        </p:grpSpPr>
        <p:sp>
          <p:nvSpPr>
            <p:cNvPr id="7" name="Freeform 7"/>
            <p:cNvSpPr/>
            <p:nvPr/>
          </p:nvSpPr>
          <p:spPr>
            <a:xfrm>
              <a:off x="40164" y="254"/>
              <a:ext cx="4718145" cy="243205"/>
            </a:xfrm>
            <a:custGeom>
              <a:avLst/>
              <a:gdLst/>
              <a:ahLst/>
              <a:cxnLst/>
              <a:rect l="l" t="t" r="r" b="b"/>
              <a:pathLst>
                <a:path w="4718145" h="243205">
                  <a:moveTo>
                    <a:pt x="119729" y="0"/>
                  </a:moveTo>
                  <a:cubicBezTo>
                    <a:pt x="-39910" y="0"/>
                    <a:pt x="-39910" y="243205"/>
                    <a:pt x="119729" y="243205"/>
                  </a:cubicBezTo>
                  <a:lnTo>
                    <a:pt x="4718145" y="243205"/>
                  </a:lnTo>
                  <a:lnTo>
                    <a:pt x="4718145" y="0"/>
                  </a:lnTo>
                  <a:close/>
                </a:path>
              </a:pathLst>
            </a:custGeom>
            <a:solidFill>
              <a:srgbClr val="4869B1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949857" y="8500253"/>
            <a:ext cx="390820" cy="355692"/>
            <a:chOff x="0" y="0"/>
            <a:chExt cx="521094" cy="474256"/>
          </a:xfrm>
        </p:grpSpPr>
        <p:sp>
          <p:nvSpPr>
            <p:cNvPr id="9" name="Freeform 9"/>
            <p:cNvSpPr/>
            <p:nvPr/>
          </p:nvSpPr>
          <p:spPr>
            <a:xfrm>
              <a:off x="22574" y="0"/>
              <a:ext cx="476060" cy="473964"/>
            </a:xfrm>
            <a:custGeom>
              <a:avLst/>
              <a:gdLst/>
              <a:ahLst/>
              <a:cxnLst/>
              <a:rect l="l" t="t" r="r" b="b"/>
              <a:pathLst>
                <a:path w="476060" h="473964">
                  <a:moveTo>
                    <a:pt x="237903" y="0"/>
                  </a:moveTo>
                  <a:cubicBezTo>
                    <a:pt x="177197" y="0"/>
                    <a:pt x="116491" y="24257"/>
                    <a:pt x="67723" y="73025"/>
                  </a:cubicBezTo>
                  <a:cubicBezTo>
                    <a:pt x="-22574" y="163322"/>
                    <a:pt x="-22574" y="315976"/>
                    <a:pt x="67723" y="406273"/>
                  </a:cubicBezTo>
                  <a:cubicBezTo>
                    <a:pt x="116491" y="451358"/>
                    <a:pt x="177197" y="473964"/>
                    <a:pt x="237903" y="473964"/>
                  </a:cubicBezTo>
                  <a:cubicBezTo>
                    <a:pt x="298863" y="473964"/>
                    <a:pt x="359442" y="451358"/>
                    <a:pt x="408337" y="406273"/>
                  </a:cubicBezTo>
                  <a:cubicBezTo>
                    <a:pt x="498634" y="315976"/>
                    <a:pt x="498634" y="163322"/>
                    <a:pt x="408337" y="73025"/>
                  </a:cubicBezTo>
                  <a:cubicBezTo>
                    <a:pt x="359442" y="24257"/>
                    <a:pt x="298736" y="0"/>
                    <a:pt x="237903" y="0"/>
                  </a:cubicBezTo>
                  <a:close/>
                </a:path>
              </a:pathLst>
            </a:custGeom>
            <a:solidFill>
              <a:srgbClr val="FFB17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5684903" y="4410161"/>
            <a:ext cx="2761240" cy="3910403"/>
            <a:chOff x="0" y="0"/>
            <a:chExt cx="3681654" cy="52138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27012" cy="5213858"/>
            </a:xfrm>
            <a:custGeom>
              <a:avLst/>
              <a:gdLst/>
              <a:ahLst/>
              <a:cxnLst/>
              <a:rect l="l" t="t" r="r" b="b"/>
              <a:pathLst>
                <a:path w="3127012" h="5213858">
                  <a:moveTo>
                    <a:pt x="1430020" y="0"/>
                  </a:moveTo>
                  <a:cubicBezTo>
                    <a:pt x="275971" y="0"/>
                    <a:pt x="0" y="5213858"/>
                    <a:pt x="0" y="5213858"/>
                  </a:cubicBezTo>
                  <a:lnTo>
                    <a:pt x="2111756" y="5213858"/>
                  </a:lnTo>
                  <a:cubicBezTo>
                    <a:pt x="2111756" y="5213858"/>
                    <a:pt x="3681349" y="573786"/>
                    <a:pt x="2917317" y="414020"/>
                  </a:cubicBezTo>
                  <a:cubicBezTo>
                    <a:pt x="2891536" y="408432"/>
                    <a:pt x="2865882" y="405765"/>
                    <a:pt x="2840609" y="405765"/>
                  </a:cubicBezTo>
                  <a:cubicBezTo>
                    <a:pt x="2119503" y="405765"/>
                    <a:pt x="1592072" y="2582672"/>
                    <a:pt x="1563751" y="2582672"/>
                  </a:cubicBezTo>
                  <a:cubicBezTo>
                    <a:pt x="1563497" y="2582672"/>
                    <a:pt x="1562989" y="2582164"/>
                    <a:pt x="1562989" y="2581275"/>
                  </a:cubicBezTo>
                  <a:cubicBezTo>
                    <a:pt x="1548892" y="2504821"/>
                    <a:pt x="2236724" y="108585"/>
                    <a:pt x="1486535" y="4191"/>
                  </a:cubicBezTo>
                  <a:cubicBezTo>
                    <a:pt x="1467358" y="1397"/>
                    <a:pt x="1448689" y="0"/>
                    <a:pt x="1430020" y="0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105493" y="3787978"/>
            <a:ext cx="5522471" cy="3584381"/>
            <a:chOff x="0" y="0"/>
            <a:chExt cx="7363295" cy="4779175"/>
          </a:xfrm>
        </p:grpSpPr>
        <p:sp>
          <p:nvSpPr>
            <p:cNvPr id="13" name="Freeform 13"/>
            <p:cNvSpPr/>
            <p:nvPr/>
          </p:nvSpPr>
          <p:spPr>
            <a:xfrm>
              <a:off x="254" y="254"/>
              <a:ext cx="7362825" cy="4778883"/>
            </a:xfrm>
            <a:custGeom>
              <a:avLst/>
              <a:gdLst/>
              <a:ahLst/>
              <a:cxnLst/>
              <a:rect l="l" t="t" r="r" b="b"/>
              <a:pathLst>
                <a:path w="7362825" h="4778883">
                  <a:moveTo>
                    <a:pt x="798703" y="0"/>
                  </a:moveTo>
                  <a:cubicBezTo>
                    <a:pt x="354330" y="0"/>
                    <a:pt x="0" y="354330"/>
                    <a:pt x="0" y="791972"/>
                  </a:cubicBezTo>
                  <a:lnTo>
                    <a:pt x="0" y="3980180"/>
                  </a:lnTo>
                  <a:cubicBezTo>
                    <a:pt x="0" y="4417822"/>
                    <a:pt x="354330" y="4778883"/>
                    <a:pt x="798703" y="4778883"/>
                  </a:cubicBezTo>
                  <a:lnTo>
                    <a:pt x="6571107" y="4778883"/>
                  </a:lnTo>
                  <a:cubicBezTo>
                    <a:pt x="7008749" y="4778883"/>
                    <a:pt x="7362825" y="4417695"/>
                    <a:pt x="7362825" y="3980180"/>
                  </a:cubicBezTo>
                  <a:lnTo>
                    <a:pt x="7362825" y="791972"/>
                  </a:lnTo>
                  <a:cubicBezTo>
                    <a:pt x="7362825" y="354330"/>
                    <a:pt x="7008749" y="0"/>
                    <a:pt x="65711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1345228" y="3996404"/>
            <a:ext cx="5048279" cy="2886294"/>
            <a:chOff x="0" y="0"/>
            <a:chExt cx="6731038" cy="3848392"/>
          </a:xfrm>
        </p:grpSpPr>
        <p:sp>
          <p:nvSpPr>
            <p:cNvPr id="15" name="Freeform 15"/>
            <p:cNvSpPr/>
            <p:nvPr/>
          </p:nvSpPr>
          <p:spPr>
            <a:xfrm>
              <a:off x="0" y="254"/>
              <a:ext cx="6730746" cy="3848100"/>
            </a:xfrm>
            <a:custGeom>
              <a:avLst/>
              <a:gdLst/>
              <a:ahLst/>
              <a:cxnLst/>
              <a:rect l="l" t="t" r="r" b="b"/>
              <a:pathLst>
                <a:path w="6730746" h="3848100">
                  <a:moveTo>
                    <a:pt x="0" y="0"/>
                  </a:moveTo>
                  <a:lnTo>
                    <a:pt x="0" y="3848100"/>
                  </a:lnTo>
                  <a:lnTo>
                    <a:pt x="6730746" y="3848100"/>
                  </a:lnTo>
                  <a:lnTo>
                    <a:pt x="6730746" y="0"/>
                  </a:lnTo>
                  <a:close/>
                </a:path>
              </a:pathLst>
            </a:custGeom>
            <a:solidFill>
              <a:srgbClr val="7EACEC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2861207" y="7372198"/>
            <a:ext cx="2011080" cy="583778"/>
            <a:chOff x="0" y="0"/>
            <a:chExt cx="2681440" cy="778370"/>
          </a:xfrm>
        </p:grpSpPr>
        <p:sp>
          <p:nvSpPr>
            <p:cNvPr id="17" name="Freeform 17"/>
            <p:cNvSpPr/>
            <p:nvPr/>
          </p:nvSpPr>
          <p:spPr>
            <a:xfrm>
              <a:off x="254" y="254"/>
              <a:ext cx="2681224" cy="777875"/>
            </a:xfrm>
            <a:custGeom>
              <a:avLst/>
              <a:gdLst/>
              <a:ahLst/>
              <a:cxnLst/>
              <a:rect l="l" t="t" r="r" b="b"/>
              <a:pathLst>
                <a:path w="2681224" h="777875">
                  <a:moveTo>
                    <a:pt x="0" y="0"/>
                  </a:moveTo>
                  <a:lnTo>
                    <a:pt x="0" y="777875"/>
                  </a:lnTo>
                  <a:lnTo>
                    <a:pt x="2681224" y="777875"/>
                  </a:lnTo>
                  <a:lnTo>
                    <a:pt x="2681224" y="0"/>
                  </a:lnTo>
                  <a:close/>
                </a:path>
              </a:pathLst>
            </a:custGeom>
            <a:solidFill>
              <a:srgbClr val="E3E9F7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2288164" y="7914113"/>
            <a:ext cx="3157156" cy="406479"/>
            <a:chOff x="0" y="0"/>
            <a:chExt cx="4209542" cy="541972"/>
          </a:xfrm>
        </p:grpSpPr>
        <p:sp>
          <p:nvSpPr>
            <p:cNvPr id="19" name="Freeform 19"/>
            <p:cNvSpPr/>
            <p:nvPr/>
          </p:nvSpPr>
          <p:spPr>
            <a:xfrm>
              <a:off x="6852" y="0"/>
              <a:ext cx="4202690" cy="541909"/>
            </a:xfrm>
            <a:custGeom>
              <a:avLst/>
              <a:gdLst/>
              <a:ahLst/>
              <a:cxnLst/>
              <a:rect l="l" t="t" r="r" b="b"/>
              <a:pathLst>
                <a:path w="4202690" h="541909">
                  <a:moveTo>
                    <a:pt x="541915" y="0"/>
                  </a:moveTo>
                  <a:cubicBezTo>
                    <a:pt x="243338" y="0"/>
                    <a:pt x="-6598" y="243205"/>
                    <a:pt x="133" y="541909"/>
                  </a:cubicBezTo>
                  <a:lnTo>
                    <a:pt x="4202690" y="541909"/>
                  </a:lnTo>
                  <a:cubicBezTo>
                    <a:pt x="4202690" y="243205"/>
                    <a:pt x="3959485" y="0"/>
                    <a:pt x="366078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2496590" y="7262793"/>
            <a:ext cx="2766517" cy="213884"/>
            <a:chOff x="0" y="0"/>
            <a:chExt cx="3688690" cy="285178"/>
          </a:xfrm>
        </p:grpSpPr>
        <p:sp>
          <p:nvSpPr>
            <p:cNvPr id="21" name="Freeform 21"/>
            <p:cNvSpPr/>
            <p:nvPr/>
          </p:nvSpPr>
          <p:spPr>
            <a:xfrm>
              <a:off x="43434" y="254"/>
              <a:ext cx="3601530" cy="284734"/>
            </a:xfrm>
            <a:custGeom>
              <a:avLst/>
              <a:gdLst/>
              <a:ahLst/>
              <a:cxnLst/>
              <a:rect l="l" t="t" r="r" b="b"/>
              <a:pathLst>
                <a:path w="3601530" h="284734">
                  <a:moveTo>
                    <a:pt x="130302" y="0"/>
                  </a:moveTo>
                  <a:cubicBezTo>
                    <a:pt x="-43434" y="13843"/>
                    <a:pt x="-43434" y="270891"/>
                    <a:pt x="130302" y="284734"/>
                  </a:cubicBezTo>
                  <a:lnTo>
                    <a:pt x="3471418" y="284734"/>
                  </a:lnTo>
                  <a:cubicBezTo>
                    <a:pt x="3644900" y="270891"/>
                    <a:pt x="3644900" y="13843"/>
                    <a:pt x="3471418" y="0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605449" y="7596283"/>
            <a:ext cx="1328652" cy="724300"/>
            <a:chOff x="0" y="0"/>
            <a:chExt cx="1771536" cy="965733"/>
          </a:xfrm>
        </p:grpSpPr>
        <p:sp>
          <p:nvSpPr>
            <p:cNvPr id="23" name="Freeform 23"/>
            <p:cNvSpPr/>
            <p:nvPr/>
          </p:nvSpPr>
          <p:spPr>
            <a:xfrm>
              <a:off x="254" y="254"/>
              <a:ext cx="1771015" cy="965454"/>
            </a:xfrm>
            <a:custGeom>
              <a:avLst/>
              <a:gdLst/>
              <a:ahLst/>
              <a:cxnLst/>
              <a:rect l="l" t="t" r="r" b="b"/>
              <a:pathLst>
                <a:path w="1771015" h="965454">
                  <a:moveTo>
                    <a:pt x="249936" y="0"/>
                  </a:moveTo>
                  <a:cubicBezTo>
                    <a:pt x="117983" y="0"/>
                    <a:pt x="0" y="110871"/>
                    <a:pt x="0" y="249936"/>
                  </a:cubicBezTo>
                  <a:cubicBezTo>
                    <a:pt x="0" y="645795"/>
                    <a:pt x="326390" y="965454"/>
                    <a:pt x="722249" y="965454"/>
                  </a:cubicBezTo>
                  <a:lnTo>
                    <a:pt x="1048766" y="965454"/>
                  </a:lnTo>
                  <a:cubicBezTo>
                    <a:pt x="1451610" y="965454"/>
                    <a:pt x="1771015" y="645795"/>
                    <a:pt x="1771015" y="249936"/>
                  </a:cubicBezTo>
                  <a:cubicBezTo>
                    <a:pt x="1771015" y="110871"/>
                    <a:pt x="1660144" y="0"/>
                    <a:pt x="15210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4" name="Freeform 24"/>
          <p:cNvSpPr/>
          <p:nvPr/>
        </p:nvSpPr>
        <p:spPr>
          <a:xfrm>
            <a:off x="10475290" y="6512281"/>
            <a:ext cx="1604610" cy="1084183"/>
          </a:xfrm>
          <a:custGeom>
            <a:avLst/>
            <a:gdLst/>
            <a:ahLst/>
            <a:cxnLst/>
            <a:rect l="l" t="t" r="r" b="b"/>
            <a:pathLst>
              <a:path w="1604610" h="1084183">
                <a:moveTo>
                  <a:pt x="0" y="0"/>
                </a:moveTo>
                <a:lnTo>
                  <a:pt x="1604610" y="0"/>
                </a:lnTo>
                <a:lnTo>
                  <a:pt x="1604610" y="1084183"/>
                </a:lnTo>
                <a:lnTo>
                  <a:pt x="0" y="10841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9428055" y="8265976"/>
            <a:ext cx="8434607" cy="111404"/>
            <a:chOff x="0" y="0"/>
            <a:chExt cx="11246142" cy="148539"/>
          </a:xfrm>
        </p:grpSpPr>
        <p:sp>
          <p:nvSpPr>
            <p:cNvPr id="26" name="Freeform 26"/>
            <p:cNvSpPr/>
            <p:nvPr/>
          </p:nvSpPr>
          <p:spPr>
            <a:xfrm>
              <a:off x="24511" y="254"/>
              <a:ext cx="11198891" cy="148082"/>
            </a:xfrm>
            <a:custGeom>
              <a:avLst/>
              <a:gdLst/>
              <a:ahLst/>
              <a:cxnLst/>
              <a:rect l="l" t="t" r="r" b="b"/>
              <a:pathLst>
                <a:path w="11198891" h="148082">
                  <a:moveTo>
                    <a:pt x="232791" y="0"/>
                  </a:moveTo>
                  <a:cubicBezTo>
                    <a:pt x="184023" y="0"/>
                    <a:pt x="135509" y="762"/>
                    <a:pt x="86868" y="2921"/>
                  </a:cubicBezTo>
                  <a:lnTo>
                    <a:pt x="72771" y="2921"/>
                  </a:lnTo>
                  <a:cubicBezTo>
                    <a:pt x="-24257" y="2921"/>
                    <a:pt x="-24257" y="141986"/>
                    <a:pt x="72771" y="141986"/>
                  </a:cubicBezTo>
                  <a:lnTo>
                    <a:pt x="10679684" y="141986"/>
                  </a:lnTo>
                  <a:cubicBezTo>
                    <a:pt x="10772140" y="141986"/>
                    <a:pt x="10868025" y="148082"/>
                    <a:pt x="10964672" y="148082"/>
                  </a:cubicBezTo>
                  <a:cubicBezTo>
                    <a:pt x="11013186" y="148082"/>
                    <a:pt x="11061700" y="146685"/>
                    <a:pt x="11110340" y="141986"/>
                  </a:cubicBezTo>
                  <a:lnTo>
                    <a:pt x="11131169" y="141986"/>
                  </a:lnTo>
                  <a:cubicBezTo>
                    <a:pt x="11221465" y="141986"/>
                    <a:pt x="11221465" y="2921"/>
                    <a:pt x="11131169" y="2921"/>
                  </a:cubicBezTo>
                  <a:lnTo>
                    <a:pt x="524510" y="2921"/>
                  </a:lnTo>
                  <a:cubicBezTo>
                    <a:pt x="427228" y="2921"/>
                    <a:pt x="329819" y="0"/>
                    <a:pt x="232791" y="0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sp>
        <p:nvSpPr>
          <p:cNvPr id="27" name="Freeform 27"/>
          <p:cNvSpPr/>
          <p:nvPr/>
        </p:nvSpPr>
        <p:spPr>
          <a:xfrm>
            <a:off x="12303738" y="4201001"/>
            <a:ext cx="3157280" cy="2569416"/>
          </a:xfrm>
          <a:custGeom>
            <a:avLst/>
            <a:gdLst/>
            <a:ahLst/>
            <a:cxnLst/>
            <a:rect l="l" t="t" r="r" b="b"/>
            <a:pathLst>
              <a:path w="3157280" h="2569416">
                <a:moveTo>
                  <a:pt x="0" y="0"/>
                </a:moveTo>
                <a:lnTo>
                  <a:pt x="3157280" y="0"/>
                </a:lnTo>
                <a:lnTo>
                  <a:pt x="3157280" y="2569417"/>
                </a:lnTo>
                <a:lnTo>
                  <a:pt x="0" y="25694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849718" y="5309787"/>
            <a:ext cx="1454029" cy="995601"/>
          </a:xfrm>
          <a:custGeom>
            <a:avLst/>
            <a:gdLst/>
            <a:ahLst/>
            <a:cxnLst/>
            <a:rect l="l" t="t" r="r" b="b"/>
            <a:pathLst>
              <a:path w="1454029" h="995601">
                <a:moveTo>
                  <a:pt x="0" y="0"/>
                </a:moveTo>
                <a:lnTo>
                  <a:pt x="1454029" y="0"/>
                </a:lnTo>
                <a:lnTo>
                  <a:pt x="1454029" y="995601"/>
                </a:lnTo>
                <a:lnTo>
                  <a:pt x="0" y="995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614665" y="1746885"/>
            <a:ext cx="830628" cy="822188"/>
          </a:xfrm>
          <a:custGeom>
            <a:avLst/>
            <a:gdLst/>
            <a:ahLst/>
            <a:cxnLst/>
            <a:rect l="l" t="t" r="r" b="b"/>
            <a:pathLst>
              <a:path w="830628" h="822188">
                <a:moveTo>
                  <a:pt x="0" y="0"/>
                </a:moveTo>
                <a:lnTo>
                  <a:pt x="830627" y="0"/>
                </a:lnTo>
                <a:lnTo>
                  <a:pt x="830627" y="822188"/>
                </a:lnTo>
                <a:lnTo>
                  <a:pt x="0" y="82218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grpSp>
        <p:nvGrpSpPr>
          <p:cNvPr id="30" name="Group 30"/>
          <p:cNvGrpSpPr/>
          <p:nvPr/>
        </p:nvGrpSpPr>
        <p:grpSpPr>
          <a:xfrm>
            <a:off x="449309" y="1103517"/>
            <a:ext cx="11127424" cy="5368923"/>
            <a:chOff x="0" y="0"/>
            <a:chExt cx="14836565" cy="715856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4836570" cy="7158563"/>
            </a:xfrm>
            <a:custGeom>
              <a:avLst/>
              <a:gdLst/>
              <a:ahLst/>
              <a:cxnLst/>
              <a:rect l="l" t="t" r="r" b="b"/>
              <a:pathLst>
                <a:path w="14836570" h="7158563">
                  <a:moveTo>
                    <a:pt x="0" y="0"/>
                  </a:moveTo>
                  <a:lnTo>
                    <a:pt x="14836570" y="0"/>
                  </a:lnTo>
                  <a:lnTo>
                    <a:pt x="14836570" y="7158563"/>
                  </a:lnTo>
                  <a:lnTo>
                    <a:pt x="0" y="7158563"/>
                  </a:lnTo>
                  <a:close/>
                </a:path>
              </a:pathLst>
            </a:custGeom>
            <a:blipFill>
              <a:blip r:embed="rId15">
                <a:alphaModFix amt="0"/>
              </a:blip>
              <a:stretch>
                <a:fillRect l="-27922" r="-5724" b="-7943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4836565" cy="715856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1999"/>
                </a:lnSpc>
              </a:pPr>
              <a:r>
                <a:rPr lang="en-US" sz="9999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Medicine Inventory Management System </a:t>
              </a: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49309" y="6512591"/>
            <a:ext cx="8712741" cy="15100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89"/>
              </a:lnSpc>
            </a:pPr>
            <a:r>
              <a:rPr lang="en-US" sz="3399" spc="12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Students’ Names: Mariam Sabry, Lujayn Nabil, Leen Hamdy, Walaa Ezz </a:t>
            </a:r>
          </a:p>
        </p:txBody>
      </p:sp>
      <p:sp>
        <p:nvSpPr>
          <p:cNvPr id="34" name="Freeform 34"/>
          <p:cNvSpPr/>
          <p:nvPr/>
        </p:nvSpPr>
        <p:spPr>
          <a:xfrm>
            <a:off x="16784422" y="3742192"/>
            <a:ext cx="454971" cy="389601"/>
          </a:xfrm>
          <a:custGeom>
            <a:avLst/>
            <a:gdLst/>
            <a:ahLst/>
            <a:cxnLst/>
            <a:rect l="l" t="t" r="r" b="b"/>
            <a:pathLst>
              <a:path w="454971" h="389601">
                <a:moveTo>
                  <a:pt x="0" y="0"/>
                </a:moveTo>
                <a:lnTo>
                  <a:pt x="454971" y="0"/>
                </a:lnTo>
                <a:lnTo>
                  <a:pt x="454971" y="389601"/>
                </a:lnTo>
                <a:lnTo>
                  <a:pt x="0" y="38960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0528068" y="4174179"/>
            <a:ext cx="454952" cy="454952"/>
            <a:chOff x="0" y="0"/>
            <a:chExt cx="606603" cy="6066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06171" cy="606171"/>
            </a:xfrm>
            <a:custGeom>
              <a:avLst/>
              <a:gdLst/>
              <a:ahLst/>
              <a:cxnLst/>
              <a:rect l="l" t="t" r="r" b="b"/>
              <a:pathLst>
                <a:path w="606171" h="606171">
                  <a:moveTo>
                    <a:pt x="0" y="0"/>
                  </a:moveTo>
                  <a:lnTo>
                    <a:pt x="65532" y="235077"/>
                  </a:lnTo>
                  <a:lnTo>
                    <a:pt x="125857" y="464185"/>
                  </a:lnTo>
                  <a:lnTo>
                    <a:pt x="251333" y="338709"/>
                  </a:lnTo>
                  <a:lnTo>
                    <a:pt x="518795" y="606171"/>
                  </a:lnTo>
                  <a:lnTo>
                    <a:pt x="606171" y="518795"/>
                  </a:lnTo>
                  <a:lnTo>
                    <a:pt x="338709" y="256921"/>
                  </a:lnTo>
                  <a:lnTo>
                    <a:pt x="464185" y="125857"/>
                  </a:lnTo>
                  <a:lnTo>
                    <a:pt x="234696" y="65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F4A8A"/>
            </a:solidFill>
          </p:spPr>
        </p:sp>
      </p:grpSp>
      <p:sp>
        <p:nvSpPr>
          <p:cNvPr id="37" name="Freeform 37"/>
          <p:cNvSpPr/>
          <p:nvPr/>
        </p:nvSpPr>
        <p:spPr>
          <a:xfrm>
            <a:off x="10325271" y="3244863"/>
            <a:ext cx="860488" cy="851745"/>
          </a:xfrm>
          <a:custGeom>
            <a:avLst/>
            <a:gdLst/>
            <a:ahLst/>
            <a:cxnLst/>
            <a:rect l="l" t="t" r="r" b="b"/>
            <a:pathLst>
              <a:path w="860488" h="851745">
                <a:moveTo>
                  <a:pt x="0" y="0"/>
                </a:moveTo>
                <a:lnTo>
                  <a:pt x="860489" y="0"/>
                </a:lnTo>
                <a:lnTo>
                  <a:pt x="860489" y="851744"/>
                </a:lnTo>
                <a:lnTo>
                  <a:pt x="0" y="85174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59138" y="4275294"/>
            <a:ext cx="7730313" cy="6894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10"/>
              </a:lnSpc>
            </a:pPr>
            <a:r>
              <a:rPr lang="en-US" sz="4508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Database overview 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521850" y="3641423"/>
            <a:ext cx="1821199" cy="1331404"/>
            <a:chOff x="-15465" y="0"/>
            <a:chExt cx="2428265" cy="17752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12800" cy="1558400"/>
            </a:xfrm>
            <a:custGeom>
              <a:avLst/>
              <a:gdLst/>
              <a:ahLst/>
              <a:cxnLst/>
              <a:rect l="l" t="t" r="r" b="b"/>
              <a:pathLst>
                <a:path w="2412800" h="1558400">
                  <a:moveTo>
                    <a:pt x="0" y="0"/>
                  </a:moveTo>
                  <a:lnTo>
                    <a:pt x="2412800" y="0"/>
                  </a:lnTo>
                  <a:lnTo>
                    <a:pt x="2412800" y="1558400"/>
                  </a:lnTo>
                  <a:lnTo>
                    <a:pt x="0" y="155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870" r="-32869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-15465" y="216801"/>
              <a:ext cx="2412797" cy="15584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680"/>
                </a:lnSpc>
              </a:pPr>
              <a:r>
                <a:rPr lang="en-US" sz="64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01.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50790" y="7212246"/>
            <a:ext cx="6835656" cy="720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32"/>
              </a:lnSpc>
            </a:pPr>
            <a:r>
              <a:rPr lang="en-US" sz="4777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Entities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33754" y="6811308"/>
            <a:ext cx="1809598" cy="1168803"/>
            <a:chOff x="0" y="0"/>
            <a:chExt cx="2412797" cy="15584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12800" cy="1558400"/>
            </a:xfrm>
            <a:custGeom>
              <a:avLst/>
              <a:gdLst/>
              <a:ahLst/>
              <a:cxnLst/>
              <a:rect l="l" t="t" r="r" b="b"/>
              <a:pathLst>
                <a:path w="2412800" h="1558400">
                  <a:moveTo>
                    <a:pt x="0" y="0"/>
                  </a:moveTo>
                  <a:lnTo>
                    <a:pt x="2412800" y="0"/>
                  </a:lnTo>
                  <a:lnTo>
                    <a:pt x="2412800" y="1558400"/>
                  </a:lnTo>
                  <a:lnTo>
                    <a:pt x="0" y="155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870" r="-3286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2412797" cy="15584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03.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1397377" y="4146191"/>
            <a:ext cx="6408765" cy="65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57"/>
              </a:lnSpc>
            </a:pPr>
            <a:r>
              <a:rPr lang="en-US" sz="4381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ER diagram 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587779" y="3641423"/>
            <a:ext cx="1809598" cy="1168803"/>
            <a:chOff x="0" y="0"/>
            <a:chExt cx="2412797" cy="155840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412800" cy="1558400"/>
            </a:xfrm>
            <a:custGeom>
              <a:avLst/>
              <a:gdLst/>
              <a:ahLst/>
              <a:cxnLst/>
              <a:rect l="l" t="t" r="r" b="b"/>
              <a:pathLst>
                <a:path w="2412800" h="1558400">
                  <a:moveTo>
                    <a:pt x="0" y="0"/>
                  </a:moveTo>
                  <a:lnTo>
                    <a:pt x="2412800" y="0"/>
                  </a:lnTo>
                  <a:lnTo>
                    <a:pt x="2412800" y="1558400"/>
                  </a:lnTo>
                  <a:lnTo>
                    <a:pt x="0" y="155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870" r="-3286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412797" cy="15584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02.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293433" y="7235980"/>
            <a:ext cx="6616652" cy="691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28"/>
              </a:lnSpc>
            </a:pPr>
            <a:r>
              <a:rPr lang="en-US" sz="4523" dirty="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Triggers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587779" y="6811308"/>
            <a:ext cx="1809598" cy="1168803"/>
            <a:chOff x="0" y="0"/>
            <a:chExt cx="2412797" cy="15584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12800" cy="1558400"/>
            </a:xfrm>
            <a:custGeom>
              <a:avLst/>
              <a:gdLst/>
              <a:ahLst/>
              <a:cxnLst/>
              <a:rect l="l" t="t" r="r" b="b"/>
              <a:pathLst>
                <a:path w="2412800" h="1558400">
                  <a:moveTo>
                    <a:pt x="0" y="0"/>
                  </a:moveTo>
                  <a:lnTo>
                    <a:pt x="2412800" y="0"/>
                  </a:lnTo>
                  <a:lnTo>
                    <a:pt x="2412800" y="1558400"/>
                  </a:lnTo>
                  <a:lnTo>
                    <a:pt x="0" y="155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870" r="-3286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2412797" cy="155840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04.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6154419" y="8068723"/>
            <a:ext cx="1809598" cy="1499870"/>
            <a:chOff x="0" y="0"/>
            <a:chExt cx="2412797" cy="199982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12800" cy="1999821"/>
            </a:xfrm>
            <a:custGeom>
              <a:avLst/>
              <a:gdLst/>
              <a:ahLst/>
              <a:cxnLst/>
              <a:rect l="l" t="t" r="r" b="b"/>
              <a:pathLst>
                <a:path w="2412800" h="1999821">
                  <a:moveTo>
                    <a:pt x="0" y="0"/>
                  </a:moveTo>
                  <a:lnTo>
                    <a:pt x="2412800" y="0"/>
                  </a:lnTo>
                  <a:lnTo>
                    <a:pt x="2412800" y="1999821"/>
                  </a:lnTo>
                  <a:lnTo>
                    <a:pt x="0" y="19998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870" r="-32869" b="2207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2412797" cy="199982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05.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3741180" y="102870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611909" y="833679"/>
            <a:ext cx="12113419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TABLE OF CONTENTS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64017" y="8785577"/>
            <a:ext cx="6476356" cy="66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3"/>
              </a:lnSpc>
            </a:pPr>
            <a:r>
              <a:rPr lang="en-US" sz="4427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Queries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8" y="-9525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771485"/>
            <a:ext cx="8509642" cy="1152507"/>
            <a:chOff x="0" y="-9529"/>
            <a:chExt cx="10653835" cy="14429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634759" cy="1433378"/>
            </a:xfrm>
            <a:custGeom>
              <a:avLst/>
              <a:gdLst/>
              <a:ahLst/>
              <a:cxnLst/>
              <a:rect l="l" t="t" r="r" b="b"/>
              <a:pathLst>
                <a:path w="10634759" h="1433378">
                  <a:moveTo>
                    <a:pt x="0" y="0"/>
                  </a:moveTo>
                  <a:lnTo>
                    <a:pt x="10634759" y="0"/>
                  </a:lnTo>
                  <a:lnTo>
                    <a:pt x="10634759" y="1433378"/>
                  </a:lnTo>
                  <a:lnTo>
                    <a:pt x="0" y="143337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457" r="69854" b="-8722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19079" y="-9529"/>
              <a:ext cx="10634756" cy="144290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marL="993149" lvl="1" indent="-496575" algn="l">
                <a:lnSpc>
                  <a:spcPts val="5520"/>
                </a:lnSpc>
                <a:buFont typeface="Arial"/>
                <a:buChar char="•"/>
              </a:pPr>
              <a:r>
                <a:rPr lang="en-US" sz="4600" b="1" dirty="0">
                  <a:solidFill>
                    <a:srgbClr val="2F4A8A"/>
                  </a:solidFill>
                  <a:latin typeface="Canva Sans Bold" panose="020B0604020202020204" charset="0"/>
                  <a:ea typeface="Alata"/>
                  <a:cs typeface="Alata"/>
                  <a:sym typeface="Alata"/>
                </a:rPr>
                <a:t>Database name: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42627" y="0"/>
            <a:ext cx="13780566" cy="2587566"/>
            <a:chOff x="0" y="-330200"/>
            <a:chExt cx="18374088" cy="345008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74088" cy="3119889"/>
            </a:xfrm>
            <a:custGeom>
              <a:avLst/>
              <a:gdLst/>
              <a:ahLst/>
              <a:cxnLst/>
              <a:rect l="l" t="t" r="r" b="b"/>
              <a:pathLst>
                <a:path w="18374088" h="3119889">
                  <a:moveTo>
                    <a:pt x="0" y="0"/>
                  </a:moveTo>
                  <a:lnTo>
                    <a:pt x="18374088" y="0"/>
                  </a:lnTo>
                  <a:lnTo>
                    <a:pt x="18374088" y="3119889"/>
                  </a:lnTo>
                  <a:lnTo>
                    <a:pt x="0" y="31198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4316" r="82552" b="50049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330200"/>
              <a:ext cx="18374084" cy="3119898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1999"/>
                </a:lnSpc>
              </a:pPr>
              <a:r>
                <a:rPr lang="en-US" sz="9999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Database overview 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1506200" y="2424398"/>
            <a:ext cx="6429375" cy="4114800"/>
          </a:xfrm>
          <a:custGeom>
            <a:avLst/>
            <a:gdLst/>
            <a:ahLst/>
            <a:cxnLst/>
            <a:rect l="l" t="t" r="r" b="b"/>
            <a:pathLst>
              <a:path w="6429375" h="4114800">
                <a:moveTo>
                  <a:pt x="0" y="0"/>
                </a:moveTo>
                <a:lnTo>
                  <a:pt x="6429375" y="0"/>
                </a:lnTo>
                <a:lnTo>
                  <a:pt x="642937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596793" y="4115522"/>
            <a:ext cx="8636115" cy="556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732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Inventory_managment</a:t>
            </a:r>
            <a:r>
              <a:rPr lang="en-US" sz="3732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18336" y="5483228"/>
            <a:ext cx="13770697" cy="39111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9230" lvl="1" indent="-494615" algn="l">
              <a:lnSpc>
                <a:spcPts val="8109"/>
              </a:lnSpc>
              <a:buFont typeface="Arial"/>
              <a:buChar char="•"/>
            </a:pPr>
            <a:r>
              <a:rPr lang="en-US" sz="4581" b="1" dirty="0">
                <a:solidFill>
                  <a:srgbClr val="2F4A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Conceptual design :</a:t>
            </a:r>
          </a:p>
          <a:p>
            <a:pPr algn="l">
              <a:lnSpc>
                <a:spcPts val="5792"/>
              </a:lnSpc>
            </a:pPr>
            <a:r>
              <a:rPr lang="en-US" sz="327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database is designed based on a relational model that represents a Medicine Inventory Management System. It organizes healthcare data into multiple entities with clear relationships to ensure consistency and efficient data management. 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4262441" y="2306223"/>
            <a:ext cx="9107938" cy="67404"/>
          </a:xfrm>
          <a:prstGeom prst="line">
            <a:avLst/>
          </a:prstGeom>
          <a:ln w="38100" cap="flat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245" y="399978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424165" y="2961196"/>
            <a:ext cx="15660134" cy="687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Medicine </a:t>
            </a:r>
          </a:p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Disease </a:t>
            </a:r>
          </a:p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Doctor </a:t>
            </a:r>
          </a:p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Prescription </a:t>
            </a:r>
          </a:p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Prescription_Details (junction table)</a:t>
            </a:r>
          </a:p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• Bill </a:t>
            </a:r>
          </a:p>
          <a:p>
            <a:pPr algn="l">
              <a:lnSpc>
                <a:spcPts val="7824"/>
              </a:lnSpc>
            </a:pPr>
            <a:r>
              <a:rPr lang="en-US" sz="4800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Medicine_Disease (junction table)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24165" y="399978"/>
            <a:ext cx="12199235" cy="3429885"/>
            <a:chOff x="0" y="0"/>
            <a:chExt cx="13370877" cy="375929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370871" cy="3759301"/>
            </a:xfrm>
            <a:custGeom>
              <a:avLst/>
              <a:gdLst/>
              <a:ahLst/>
              <a:cxnLst/>
              <a:rect l="l" t="t" r="r" b="b"/>
              <a:pathLst>
                <a:path w="13370871" h="3759301">
                  <a:moveTo>
                    <a:pt x="0" y="0"/>
                  </a:moveTo>
                  <a:lnTo>
                    <a:pt x="13370871" y="0"/>
                  </a:lnTo>
                  <a:lnTo>
                    <a:pt x="13370871" y="3759301"/>
                  </a:lnTo>
                  <a:lnTo>
                    <a:pt x="0" y="37593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6542" r="19891" b="5506"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0" y="-9525"/>
              <a:ext cx="13370877" cy="3768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001"/>
                </a:lnSpc>
              </a:pPr>
              <a:r>
                <a:rPr lang="en-US" sz="10001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Entities: 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811" y="1707547"/>
            <a:ext cx="10250442" cy="8343687"/>
          </a:xfrm>
          <a:custGeom>
            <a:avLst/>
            <a:gdLst/>
            <a:ahLst/>
            <a:cxnLst/>
            <a:rect l="l" t="t" r="r" b="b"/>
            <a:pathLst>
              <a:path w="10250442" h="8343687">
                <a:moveTo>
                  <a:pt x="0" y="0"/>
                </a:moveTo>
                <a:lnTo>
                  <a:pt x="10250442" y="0"/>
                </a:lnTo>
                <a:lnTo>
                  <a:pt x="10250442" y="8343687"/>
                </a:lnTo>
                <a:lnTo>
                  <a:pt x="0" y="83436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4" r="-774" b="-233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5811" y="-852860"/>
            <a:ext cx="12199235" cy="3429885"/>
            <a:chOff x="0" y="0"/>
            <a:chExt cx="13370877" cy="37592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370871" cy="3759301"/>
            </a:xfrm>
            <a:custGeom>
              <a:avLst/>
              <a:gdLst/>
              <a:ahLst/>
              <a:cxnLst/>
              <a:rect l="l" t="t" r="r" b="b"/>
              <a:pathLst>
                <a:path w="13370871" h="3759301">
                  <a:moveTo>
                    <a:pt x="0" y="0"/>
                  </a:moveTo>
                  <a:lnTo>
                    <a:pt x="13370871" y="0"/>
                  </a:lnTo>
                  <a:lnTo>
                    <a:pt x="13370871" y="3759301"/>
                  </a:lnTo>
                  <a:lnTo>
                    <a:pt x="0" y="375930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6542" r="19891" b="5506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13370877" cy="3768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2001"/>
                </a:lnSpc>
              </a:pPr>
              <a:r>
                <a:rPr lang="en-US" sz="10001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ER Diagram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855536" y="2847272"/>
            <a:ext cx="205777" cy="205777"/>
            <a:chOff x="0" y="0"/>
            <a:chExt cx="310401" cy="3104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152464" y="2809172"/>
            <a:ext cx="6799947" cy="1821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63"/>
              </a:lnSpc>
            </a:pPr>
            <a:r>
              <a:rPr lang="en-US" sz="21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database diagram shows the relationships between all entities in the system, including Medicine, Disease, Doctor, Prescription, Bill, and the junction tables used to implement many-to-many relationships.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1314" y="6091871"/>
            <a:ext cx="6891097" cy="155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2"/>
              </a:lnSpc>
            </a:pPr>
            <a:r>
              <a:rPr lang="en-US" sz="2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design includes both one-to-many (1:N) and many-to-many (M:N) relationships, implemented using foreign keys and junction tables to ensure normalization and referential integrity.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855536" y="6425121"/>
            <a:ext cx="205777" cy="205777"/>
            <a:chOff x="0" y="0"/>
            <a:chExt cx="310401" cy="31040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71451" y="3745201"/>
            <a:ext cx="9772621" cy="5035604"/>
            <a:chOff x="0" y="0"/>
            <a:chExt cx="10711205" cy="55192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711200" cy="5519236"/>
            </a:xfrm>
            <a:custGeom>
              <a:avLst/>
              <a:gdLst/>
              <a:ahLst/>
              <a:cxnLst/>
              <a:rect l="l" t="t" r="r" b="b"/>
              <a:pathLst>
                <a:path w="10711200" h="5519236">
                  <a:moveTo>
                    <a:pt x="0" y="0"/>
                  </a:moveTo>
                  <a:lnTo>
                    <a:pt x="10711200" y="0"/>
                  </a:lnTo>
                  <a:lnTo>
                    <a:pt x="10711200" y="5519236"/>
                  </a:lnTo>
                  <a:lnTo>
                    <a:pt x="0" y="55192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67" b="3563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0711205" cy="5519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0"/>
                </a:lnSpc>
              </a:pPr>
              <a:r>
                <a:rPr lang="en-US" sz="130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MEDICINE ENTITY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640966" y="1841548"/>
            <a:ext cx="6096000" cy="2796597"/>
            <a:chOff x="0" y="0"/>
            <a:chExt cx="8128000" cy="37287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0" cy="3728800"/>
            </a:xfrm>
            <a:custGeom>
              <a:avLst/>
              <a:gdLst/>
              <a:ahLst/>
              <a:cxnLst/>
              <a:rect l="l" t="t" r="r" b="b"/>
              <a:pathLst>
                <a:path w="8128000" h="3728800">
                  <a:moveTo>
                    <a:pt x="0" y="0"/>
                  </a:moveTo>
                  <a:lnTo>
                    <a:pt x="8128000" y="0"/>
                  </a:lnTo>
                  <a:lnTo>
                    <a:pt x="8128000" y="3728800"/>
                  </a:lnTo>
                  <a:lnTo>
                    <a:pt x="0" y="37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60" r="-886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8128000" cy="373832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8720"/>
                </a:lnSpc>
              </a:pPr>
              <a:r>
                <a:rPr lang="en-US" sz="156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01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702018" y="4666005"/>
            <a:ext cx="4609246" cy="4114800"/>
          </a:xfrm>
          <a:custGeom>
            <a:avLst/>
            <a:gdLst/>
            <a:ahLst/>
            <a:cxnLst/>
            <a:rect l="l" t="t" r="r" b="b"/>
            <a:pathLst>
              <a:path w="4609246" h="4114800">
                <a:moveTo>
                  <a:pt x="0" y="0"/>
                </a:moveTo>
                <a:lnTo>
                  <a:pt x="4609246" y="0"/>
                </a:lnTo>
                <a:lnTo>
                  <a:pt x="46092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794089">
            <a:off x="11855051" y="67668"/>
            <a:ext cx="6344358" cy="6344358"/>
          </a:xfrm>
          <a:custGeom>
            <a:avLst/>
            <a:gdLst/>
            <a:ahLst/>
            <a:cxnLst/>
            <a:rect l="l" t="t" r="r" b="b"/>
            <a:pathLst>
              <a:path w="6344358" h="6344358">
                <a:moveTo>
                  <a:pt x="0" y="0"/>
                </a:moveTo>
                <a:lnTo>
                  <a:pt x="6344358" y="0"/>
                </a:lnTo>
                <a:lnTo>
                  <a:pt x="6344358" y="6344359"/>
                </a:lnTo>
                <a:lnTo>
                  <a:pt x="0" y="63443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03515" y="1328337"/>
            <a:ext cx="10354958" cy="8497189"/>
          </a:xfrm>
          <a:custGeom>
            <a:avLst/>
            <a:gdLst/>
            <a:ahLst/>
            <a:cxnLst/>
            <a:rect l="l" t="t" r="r" b="b"/>
            <a:pathLst>
              <a:path w="10354958" h="8497189">
                <a:moveTo>
                  <a:pt x="0" y="0"/>
                </a:moveTo>
                <a:lnTo>
                  <a:pt x="10354958" y="0"/>
                </a:lnTo>
                <a:lnTo>
                  <a:pt x="10354958" y="8497190"/>
                </a:lnTo>
                <a:lnTo>
                  <a:pt x="0" y="84971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289604" y="3120382"/>
            <a:ext cx="6715568" cy="78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4"/>
              </a:lnSpc>
            </a:pPr>
            <a:r>
              <a:rPr lang="en-US" sz="459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CONCEPTUAL DESIGN: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17892" y="5543315"/>
            <a:ext cx="6715568" cy="78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4"/>
              </a:lnSpc>
            </a:pPr>
            <a:r>
              <a:rPr lang="en-US" sz="459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106165" y="3449720"/>
            <a:ext cx="205777" cy="205777"/>
            <a:chOff x="0" y="0"/>
            <a:chExt cx="310401" cy="3104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4186715" y="5876116"/>
            <a:ext cx="205777" cy="205777"/>
            <a:chOff x="0" y="0"/>
            <a:chExt cx="310401" cy="310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350594" y="3799625"/>
            <a:ext cx="2567298" cy="4152982"/>
          </a:xfrm>
          <a:custGeom>
            <a:avLst/>
            <a:gdLst/>
            <a:ahLst/>
            <a:cxnLst/>
            <a:rect l="l" t="t" r="r" b="b"/>
            <a:pathLst>
              <a:path w="2567298" h="4152982">
                <a:moveTo>
                  <a:pt x="0" y="0"/>
                </a:moveTo>
                <a:lnTo>
                  <a:pt x="2567298" y="0"/>
                </a:lnTo>
                <a:lnTo>
                  <a:pt x="2567298" y="4152982"/>
                </a:lnTo>
                <a:lnTo>
                  <a:pt x="0" y="41529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97397" y="4109886"/>
            <a:ext cx="6715568" cy="511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Entity Name: Medicine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311943" y="6530231"/>
            <a:ext cx="8439413" cy="26329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7"/>
              </a:lnSpc>
            </a:pPr>
            <a:r>
              <a:rPr lang="en-US" sz="300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Medicine entity stores information about medicines in the inventory system, including basic details such as name, manufacturing date, expiry date, price, dosage, and a disease reference field used for descriptive purposes.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197397" y="5143500"/>
            <a:ext cx="1126229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3" name="Freeform 13"/>
          <p:cNvSpPr/>
          <p:nvPr/>
        </p:nvSpPr>
        <p:spPr>
          <a:xfrm>
            <a:off x="15076167" y="3206107"/>
            <a:ext cx="2827990" cy="4114800"/>
          </a:xfrm>
          <a:custGeom>
            <a:avLst/>
            <a:gdLst/>
            <a:ahLst/>
            <a:cxnLst/>
            <a:rect l="l" t="t" r="r" b="b"/>
            <a:pathLst>
              <a:path w="2827990" h="4114800">
                <a:moveTo>
                  <a:pt x="0" y="0"/>
                </a:moveTo>
                <a:lnTo>
                  <a:pt x="2827990" y="0"/>
                </a:lnTo>
                <a:lnTo>
                  <a:pt x="282799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490162" y="6328969"/>
            <a:ext cx="1407644" cy="1679402"/>
          </a:xfrm>
          <a:custGeom>
            <a:avLst/>
            <a:gdLst/>
            <a:ahLst/>
            <a:cxnLst/>
            <a:rect l="l" t="t" r="r" b="b"/>
            <a:pathLst>
              <a:path w="1407644" h="1679402">
                <a:moveTo>
                  <a:pt x="0" y="0"/>
                </a:moveTo>
                <a:lnTo>
                  <a:pt x="1407644" y="0"/>
                </a:lnTo>
                <a:lnTo>
                  <a:pt x="1407644" y="1679402"/>
                </a:lnTo>
                <a:lnTo>
                  <a:pt x="0" y="16794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56731" y="853272"/>
            <a:ext cx="7580505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ATTRIBUTES</a:t>
            </a:r>
          </a:p>
        </p:txBody>
      </p:sp>
      <p:sp>
        <p:nvSpPr>
          <p:cNvPr id="4" name="Freeform 4"/>
          <p:cNvSpPr/>
          <p:nvPr/>
        </p:nvSpPr>
        <p:spPr>
          <a:xfrm rot="-1212088">
            <a:off x="533269" y="3596254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2"/>
                </a:lnTo>
                <a:lnTo>
                  <a:pt x="0" y="22446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249962">
            <a:off x="1483305" y="3508242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2" y="0"/>
                </a:lnTo>
                <a:lnTo>
                  <a:pt x="1797992" y="2365779"/>
                </a:lnTo>
                <a:lnTo>
                  <a:pt x="0" y="236577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74432" y="2675472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2"/>
                </a:lnTo>
                <a:lnTo>
                  <a:pt x="0" y="22446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12080371" y="2636710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2" y="0"/>
                </a:lnTo>
                <a:lnTo>
                  <a:pt x="1797992" y="2365778"/>
                </a:lnTo>
                <a:lnTo>
                  <a:pt x="0" y="2365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836258" y="6717242"/>
            <a:ext cx="4126667" cy="2551031"/>
          </a:xfrm>
          <a:custGeom>
            <a:avLst/>
            <a:gdLst/>
            <a:ahLst/>
            <a:cxnLst/>
            <a:rect l="l" t="t" r="r" b="b"/>
            <a:pathLst>
              <a:path w="4126667" h="2551031">
                <a:moveTo>
                  <a:pt x="0" y="0"/>
                </a:moveTo>
                <a:lnTo>
                  <a:pt x="4126667" y="0"/>
                </a:lnTo>
                <a:lnTo>
                  <a:pt x="4126667" y="2551031"/>
                </a:lnTo>
                <a:lnTo>
                  <a:pt x="0" y="25510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620924" y="4429125"/>
            <a:ext cx="352275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medicine_id</a:t>
            </a:r>
          </a:p>
          <a:p>
            <a:pPr algn="ctr">
              <a:lnSpc>
                <a:spcPts val="3359"/>
              </a:lnSpc>
            </a:pPr>
            <a:endParaRPr lang="en-US" sz="2799" u="sng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7082433" y="7194662"/>
            <a:ext cx="3634317" cy="1499982"/>
          </a:xfrm>
          <a:custGeom>
            <a:avLst/>
            <a:gdLst/>
            <a:ahLst/>
            <a:cxnLst/>
            <a:rect l="l" t="t" r="r" b="b"/>
            <a:pathLst>
              <a:path w="3634317" h="1499982">
                <a:moveTo>
                  <a:pt x="0" y="0"/>
                </a:moveTo>
                <a:lnTo>
                  <a:pt x="3634317" y="0"/>
                </a:lnTo>
                <a:lnTo>
                  <a:pt x="3634317" y="1499981"/>
                </a:lnTo>
                <a:lnTo>
                  <a:pt x="0" y="14999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147752" y="7669225"/>
            <a:ext cx="759747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Medicine</a:t>
            </a:r>
          </a:p>
        </p:txBody>
      </p:sp>
      <p:sp>
        <p:nvSpPr>
          <p:cNvPr id="12" name="Freeform 12"/>
          <p:cNvSpPr/>
          <p:nvPr/>
        </p:nvSpPr>
        <p:spPr>
          <a:xfrm>
            <a:off x="4154421" y="2697258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3"/>
                </a:lnTo>
                <a:lnTo>
                  <a:pt x="0" y="2244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5400000">
            <a:off x="5000548" y="2663602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1" y="0"/>
                </a:lnTo>
                <a:lnTo>
                  <a:pt x="1797991" y="2365779"/>
                </a:lnTo>
                <a:lnTo>
                  <a:pt x="0" y="23657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099581" y="3634572"/>
            <a:ext cx="352275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manufacture_date</a:t>
            </a: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7563968" y="1689066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3"/>
                </a:lnTo>
                <a:lnTo>
                  <a:pt x="0" y="2244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1763335">
            <a:off x="14664550" y="3884846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3"/>
                </a:lnTo>
                <a:lnTo>
                  <a:pt x="0" y="2244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5400000">
            <a:off x="8406977" y="1631846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2" y="0"/>
                </a:lnTo>
                <a:lnTo>
                  <a:pt x="1797992" y="2365779"/>
                </a:lnTo>
                <a:lnTo>
                  <a:pt x="0" y="23657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6951912">
            <a:off x="15570489" y="3855821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2" y="0"/>
                </a:lnTo>
                <a:lnTo>
                  <a:pt x="1797992" y="2365779"/>
                </a:lnTo>
                <a:lnTo>
                  <a:pt x="0" y="23657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382594" y="2624922"/>
            <a:ext cx="3522755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expiry_date</a:t>
            </a: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1110832" y="3597788"/>
            <a:ext cx="352275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price</a:t>
            </a:r>
          </a:p>
        </p:txBody>
      </p:sp>
      <p:sp>
        <p:nvSpPr>
          <p:cNvPr id="21" name="Freeform 21"/>
          <p:cNvSpPr/>
          <p:nvPr/>
        </p:nvSpPr>
        <p:spPr>
          <a:xfrm>
            <a:off x="925724" y="6167597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3"/>
                </a:lnTo>
                <a:lnTo>
                  <a:pt x="0" y="2244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926557" y="5971420"/>
            <a:ext cx="3609870" cy="2244683"/>
          </a:xfrm>
          <a:custGeom>
            <a:avLst/>
            <a:gdLst/>
            <a:ahLst/>
            <a:cxnLst/>
            <a:rect l="l" t="t" r="r" b="b"/>
            <a:pathLst>
              <a:path w="3609870" h="2244683">
                <a:moveTo>
                  <a:pt x="0" y="0"/>
                </a:moveTo>
                <a:lnTo>
                  <a:pt x="3609870" y="0"/>
                </a:lnTo>
                <a:lnTo>
                  <a:pt x="3609870" y="2244683"/>
                </a:lnTo>
                <a:lnTo>
                  <a:pt x="0" y="22446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rot="5400000">
            <a:off x="1831663" y="6111286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2" y="0"/>
                </a:lnTo>
                <a:lnTo>
                  <a:pt x="1797992" y="2365778"/>
                </a:lnTo>
                <a:lnTo>
                  <a:pt x="0" y="236577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896922" y="7089914"/>
            <a:ext cx="352275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disease_used_for</a:t>
            </a:r>
          </a:p>
        </p:txBody>
      </p:sp>
      <p:sp>
        <p:nvSpPr>
          <p:cNvPr id="25" name="Freeform 25"/>
          <p:cNvSpPr/>
          <p:nvPr/>
        </p:nvSpPr>
        <p:spPr>
          <a:xfrm rot="5400000">
            <a:off x="13885306" y="5910872"/>
            <a:ext cx="1797992" cy="2365779"/>
          </a:xfrm>
          <a:custGeom>
            <a:avLst/>
            <a:gdLst/>
            <a:ahLst/>
            <a:cxnLst/>
            <a:rect l="l" t="t" r="r" b="b"/>
            <a:pathLst>
              <a:path w="1797992" h="2365779">
                <a:moveTo>
                  <a:pt x="0" y="0"/>
                </a:moveTo>
                <a:lnTo>
                  <a:pt x="1797992" y="0"/>
                </a:lnTo>
                <a:lnTo>
                  <a:pt x="1797992" y="2365779"/>
                </a:lnTo>
                <a:lnTo>
                  <a:pt x="0" y="23657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3066482" y="6907532"/>
            <a:ext cx="3522755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dosage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731492" y="4728120"/>
            <a:ext cx="3522755" cy="1247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medicine_name</a:t>
            </a: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3359"/>
              </a:lnSpc>
            </a:pPr>
            <a:endParaRPr lang="en-US" sz="2799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" name="AutoShape 28"/>
          <p:cNvSpPr/>
          <p:nvPr/>
        </p:nvSpPr>
        <p:spPr>
          <a:xfrm flipV="1">
            <a:off x="9828102" y="4920154"/>
            <a:ext cx="2547131" cy="172265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 flipV="1">
            <a:off x="10546216" y="5301217"/>
            <a:ext cx="4481419" cy="149046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AutoShape 30"/>
          <p:cNvSpPr/>
          <p:nvPr/>
        </p:nvSpPr>
        <p:spPr>
          <a:xfrm>
            <a:off x="10962925" y="7380071"/>
            <a:ext cx="1963632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1" name="AutoShape 31"/>
          <p:cNvSpPr/>
          <p:nvPr/>
        </p:nvSpPr>
        <p:spPr>
          <a:xfrm flipV="1">
            <a:off x="9368903" y="3933749"/>
            <a:ext cx="0" cy="278349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2" name="AutoShape 32"/>
          <p:cNvSpPr/>
          <p:nvPr/>
        </p:nvSpPr>
        <p:spPr>
          <a:xfrm flipH="1" flipV="1">
            <a:off x="6627451" y="4860133"/>
            <a:ext cx="1857109" cy="1857109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3" name="AutoShape 33"/>
          <p:cNvSpPr/>
          <p:nvPr/>
        </p:nvSpPr>
        <p:spPr>
          <a:xfrm flipH="1" flipV="1">
            <a:off x="3674479" y="5193732"/>
            <a:ext cx="3789130" cy="152351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4" name="AutoShape 34"/>
          <p:cNvSpPr/>
          <p:nvPr/>
        </p:nvSpPr>
        <p:spPr>
          <a:xfrm flipH="1">
            <a:off x="4564904" y="7499489"/>
            <a:ext cx="2271354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21765" y="1028382"/>
            <a:ext cx="7757666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PRIMARY KEY</a:t>
            </a:r>
          </a:p>
        </p:txBody>
      </p:sp>
      <p:sp>
        <p:nvSpPr>
          <p:cNvPr id="4" name="Freeform 4"/>
          <p:cNvSpPr/>
          <p:nvPr/>
        </p:nvSpPr>
        <p:spPr>
          <a:xfrm rot="-1212088">
            <a:off x="268744" y="4131110"/>
            <a:ext cx="4495088" cy="2795128"/>
          </a:xfrm>
          <a:custGeom>
            <a:avLst/>
            <a:gdLst/>
            <a:ahLst/>
            <a:cxnLst/>
            <a:rect l="l" t="t" r="r" b="b"/>
            <a:pathLst>
              <a:path w="4495088" h="2795128">
                <a:moveTo>
                  <a:pt x="0" y="0"/>
                </a:moveTo>
                <a:lnTo>
                  <a:pt x="4495089" y="0"/>
                </a:lnTo>
                <a:lnTo>
                  <a:pt x="4495089" y="2795128"/>
                </a:lnTo>
                <a:lnTo>
                  <a:pt x="0" y="279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4249962">
            <a:off x="1396838" y="4055715"/>
            <a:ext cx="2238898" cy="2945919"/>
          </a:xfrm>
          <a:custGeom>
            <a:avLst/>
            <a:gdLst/>
            <a:ahLst/>
            <a:cxnLst/>
            <a:rect l="l" t="t" r="r" b="b"/>
            <a:pathLst>
              <a:path w="2238898" h="2945919">
                <a:moveTo>
                  <a:pt x="0" y="0"/>
                </a:moveTo>
                <a:lnTo>
                  <a:pt x="2238898" y="0"/>
                </a:lnTo>
                <a:lnTo>
                  <a:pt x="2238898" y="2945919"/>
                </a:lnTo>
                <a:lnTo>
                  <a:pt x="0" y="294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TextBox 6"/>
          <p:cNvSpPr txBox="1"/>
          <p:nvPr/>
        </p:nvSpPr>
        <p:spPr>
          <a:xfrm>
            <a:off x="457200" y="5290392"/>
            <a:ext cx="3952155" cy="1053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83"/>
              </a:lnSpc>
            </a:pPr>
            <a:r>
              <a:rPr lang="en-US" sz="3486" u="sng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medicine_id</a:t>
            </a:r>
            <a:endParaRPr lang="en-US" sz="3486" u="sng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4183"/>
              </a:lnSpc>
            </a:pPr>
            <a:endParaRPr lang="en-US" sz="3486" u="sng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AutoShape 7"/>
          <p:cNvSpPr/>
          <p:nvPr/>
        </p:nvSpPr>
        <p:spPr>
          <a:xfrm flipH="1">
            <a:off x="4709592" y="4052710"/>
            <a:ext cx="2700418" cy="531261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" name="TextBox 8"/>
          <p:cNvSpPr txBox="1"/>
          <p:nvPr/>
        </p:nvSpPr>
        <p:spPr>
          <a:xfrm>
            <a:off x="8780792" y="7741666"/>
            <a:ext cx="8478508" cy="2033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4"/>
              </a:lnSpc>
            </a:pPr>
            <a:r>
              <a:rPr lang="en-US" sz="2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For example:</a:t>
            </a:r>
          </a:p>
          <a:p>
            <a:pPr algn="ctr">
              <a:lnSpc>
                <a:spcPts val="4084"/>
              </a:lnSpc>
            </a:pPr>
            <a:r>
              <a:rPr lang="en-US" sz="2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two records cannot both have medicine_id = 1, because the primary key must be unique for each medicine.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52084" y="5592813"/>
            <a:ext cx="232801" cy="232801"/>
            <a:chOff x="0" y="0"/>
            <a:chExt cx="310401" cy="3104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511877" y="7908388"/>
            <a:ext cx="232801" cy="232801"/>
            <a:chOff x="0" y="0"/>
            <a:chExt cx="310401" cy="31040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7EACEC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8617032" y="813117"/>
            <a:ext cx="1623365" cy="1514157"/>
          </a:xfrm>
          <a:custGeom>
            <a:avLst/>
            <a:gdLst/>
            <a:ahLst/>
            <a:cxnLst/>
            <a:rect l="l" t="t" r="r" b="b"/>
            <a:pathLst>
              <a:path w="1623365" h="1514157">
                <a:moveTo>
                  <a:pt x="0" y="0"/>
                </a:moveTo>
                <a:lnTo>
                  <a:pt x="1623365" y="0"/>
                </a:lnTo>
                <a:lnTo>
                  <a:pt x="1623365" y="1514156"/>
                </a:lnTo>
                <a:lnTo>
                  <a:pt x="0" y="15141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7087842" y="3411605"/>
            <a:ext cx="8193033" cy="10033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4"/>
              </a:lnSpc>
            </a:pPr>
            <a:r>
              <a:rPr lang="en-US" sz="2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uniquely identifies each record in the table and does not allow duplicate values.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68484" y="5423834"/>
            <a:ext cx="8193033" cy="1518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4"/>
              </a:lnSpc>
            </a:pPr>
            <a:r>
              <a:rPr lang="en-US" sz="291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two medicines had the same medicine_id, the database would not be able to distinguish between them.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108235" y="4518679"/>
            <a:ext cx="59911" cy="1794653"/>
          </a:xfrm>
          <a:prstGeom prst="line">
            <a:avLst/>
          </a:prstGeom>
          <a:ln w="28575" cap="rnd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3108235" y="6625650"/>
            <a:ext cx="59911" cy="1794653"/>
          </a:xfrm>
          <a:prstGeom prst="line">
            <a:avLst/>
          </a:prstGeom>
          <a:ln w="28575" cap="rnd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585267" y="5785307"/>
            <a:ext cx="5106161" cy="1558118"/>
            <a:chOff x="0" y="0"/>
            <a:chExt cx="4330395" cy="13213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30446" cy="1321435"/>
            </a:xfrm>
            <a:custGeom>
              <a:avLst/>
              <a:gdLst/>
              <a:ahLst/>
              <a:cxnLst/>
              <a:rect l="l" t="t" r="r" b="b"/>
              <a:pathLst>
                <a:path w="4330446" h="1321435">
                  <a:moveTo>
                    <a:pt x="0" y="0"/>
                  </a:moveTo>
                  <a:lnTo>
                    <a:pt x="4330446" y="0"/>
                  </a:lnTo>
                  <a:lnTo>
                    <a:pt x="4330446" y="1057148"/>
                  </a:lnTo>
                  <a:lnTo>
                    <a:pt x="2165223" y="1321435"/>
                  </a:lnTo>
                  <a:lnTo>
                    <a:pt x="0" y="1057148"/>
                  </a:lnTo>
                  <a:close/>
                </a:path>
              </a:pathLst>
            </a:custGeom>
            <a:solidFill>
              <a:srgbClr val="4869B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85267" y="7937743"/>
            <a:ext cx="5106161" cy="1558118"/>
            <a:chOff x="0" y="0"/>
            <a:chExt cx="4330395" cy="13213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30446" cy="1321435"/>
            </a:xfrm>
            <a:custGeom>
              <a:avLst/>
              <a:gdLst/>
              <a:ahLst/>
              <a:cxnLst/>
              <a:rect l="l" t="t" r="r" b="b"/>
              <a:pathLst>
                <a:path w="4330446" h="1321435">
                  <a:moveTo>
                    <a:pt x="0" y="0"/>
                  </a:moveTo>
                  <a:lnTo>
                    <a:pt x="4330446" y="0"/>
                  </a:lnTo>
                  <a:lnTo>
                    <a:pt x="4330446" y="1057148"/>
                  </a:lnTo>
                  <a:lnTo>
                    <a:pt x="2165223" y="1321435"/>
                  </a:lnTo>
                  <a:lnTo>
                    <a:pt x="0" y="1057148"/>
                  </a:lnTo>
                  <a:close/>
                </a:path>
              </a:pathLst>
            </a:custGeom>
            <a:solidFill>
              <a:srgbClr val="7EACE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85267" y="3632872"/>
            <a:ext cx="5106161" cy="1558118"/>
            <a:chOff x="0" y="0"/>
            <a:chExt cx="4330395" cy="13213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30446" cy="1321435"/>
            </a:xfrm>
            <a:custGeom>
              <a:avLst/>
              <a:gdLst/>
              <a:ahLst/>
              <a:cxnLst/>
              <a:rect l="l" t="t" r="r" b="b"/>
              <a:pathLst>
                <a:path w="4330446" h="1321435">
                  <a:moveTo>
                    <a:pt x="0" y="0"/>
                  </a:moveTo>
                  <a:lnTo>
                    <a:pt x="4330446" y="0"/>
                  </a:lnTo>
                  <a:lnTo>
                    <a:pt x="4330446" y="1057148"/>
                  </a:lnTo>
                  <a:lnTo>
                    <a:pt x="2165223" y="1321435"/>
                  </a:lnTo>
                  <a:lnTo>
                    <a:pt x="0" y="1057148"/>
                  </a:ln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307788" y="3659694"/>
            <a:ext cx="6381826" cy="1405247"/>
            <a:chOff x="0" y="0"/>
            <a:chExt cx="5743994" cy="1264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44000" cy="1264794"/>
            </a:xfrm>
            <a:custGeom>
              <a:avLst/>
              <a:gdLst/>
              <a:ahLst/>
              <a:cxnLst/>
              <a:rect l="l" t="t" r="r" b="b"/>
              <a:pathLst>
                <a:path w="5744000" h="1264794">
                  <a:moveTo>
                    <a:pt x="0" y="0"/>
                  </a:moveTo>
                  <a:lnTo>
                    <a:pt x="5744000" y="0"/>
                  </a:lnTo>
                  <a:lnTo>
                    <a:pt x="5744000" y="1264794"/>
                  </a:lnTo>
                  <a:lnTo>
                    <a:pt x="0" y="12647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8489" b="-3849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5743994" cy="126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400"/>
                </a:lnSpc>
              </a:pPr>
              <a:r>
                <a:rPr lang="en-US" sz="2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medicine_id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08192" y="5585910"/>
            <a:ext cx="10143397" cy="1619815"/>
            <a:chOff x="0" y="0"/>
            <a:chExt cx="8602337" cy="13737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02343" cy="1373715"/>
            </a:xfrm>
            <a:custGeom>
              <a:avLst/>
              <a:gdLst/>
              <a:ahLst/>
              <a:cxnLst/>
              <a:rect l="l" t="t" r="r" b="b"/>
              <a:pathLst>
                <a:path w="8602343" h="1373715">
                  <a:moveTo>
                    <a:pt x="0" y="0"/>
                  </a:moveTo>
                  <a:lnTo>
                    <a:pt x="8602343" y="0"/>
                  </a:lnTo>
                  <a:lnTo>
                    <a:pt x="8602343" y="1373715"/>
                  </a:lnTo>
                  <a:lnTo>
                    <a:pt x="0" y="137371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5437" r="33227" b="-2750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8602337" cy="1373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medicine_id, medicine_name, manufacture_date, expiry_date, price, dosage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08192" y="7674612"/>
            <a:ext cx="7611605" cy="1491382"/>
            <a:chOff x="0" y="0"/>
            <a:chExt cx="6455194" cy="1264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55200" cy="1264794"/>
            </a:xfrm>
            <a:custGeom>
              <a:avLst/>
              <a:gdLst/>
              <a:ahLst/>
              <a:cxnLst/>
              <a:rect l="l" t="t" r="r" b="b"/>
              <a:pathLst>
                <a:path w="6455200" h="1264794">
                  <a:moveTo>
                    <a:pt x="0" y="0"/>
                  </a:moveTo>
                  <a:lnTo>
                    <a:pt x="6455200" y="0"/>
                  </a:lnTo>
                  <a:lnTo>
                    <a:pt x="6455200" y="1264794"/>
                  </a:lnTo>
                  <a:lnTo>
                    <a:pt x="0" y="12647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9446" b="-4944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6455194" cy="126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optional attribute (nullable, not normalized)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37591" y="6112820"/>
            <a:ext cx="2661111" cy="884132"/>
            <a:chOff x="0" y="0"/>
            <a:chExt cx="2256815" cy="7498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56821" cy="749806"/>
            </a:xfrm>
            <a:custGeom>
              <a:avLst/>
              <a:gdLst/>
              <a:ahLst/>
              <a:cxnLst/>
              <a:rect l="l" t="t" r="r" b="b"/>
              <a:pathLst>
                <a:path w="2256821" h="749806">
                  <a:moveTo>
                    <a:pt x="0" y="0"/>
                  </a:moveTo>
                  <a:lnTo>
                    <a:pt x="2256821" y="0"/>
                  </a:lnTo>
                  <a:lnTo>
                    <a:pt x="2256821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20915" b="1168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2256815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4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NOT NULL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9195" y="8030318"/>
            <a:ext cx="5357901" cy="884132"/>
            <a:chOff x="0" y="0"/>
            <a:chExt cx="4543890" cy="7498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43895" cy="749806"/>
            </a:xfrm>
            <a:custGeom>
              <a:avLst/>
              <a:gdLst/>
              <a:ahLst/>
              <a:cxnLst/>
              <a:rect l="l" t="t" r="r" b="b"/>
              <a:pathLst>
                <a:path w="4543895" h="749806">
                  <a:moveTo>
                    <a:pt x="0" y="0"/>
                  </a:moveTo>
                  <a:lnTo>
                    <a:pt x="4543895" y="0"/>
                  </a:lnTo>
                  <a:lnTo>
                    <a:pt x="4543895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60721" b="1168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543890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4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disease_used_for: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370392" y="8361355"/>
            <a:ext cx="1338596" cy="471602"/>
            <a:chOff x="0" y="0"/>
            <a:chExt cx="1784794" cy="62880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84800" cy="628800"/>
            </a:xfrm>
            <a:custGeom>
              <a:avLst/>
              <a:gdLst/>
              <a:ahLst/>
              <a:cxnLst/>
              <a:rect l="l" t="t" r="r" b="b"/>
              <a:pathLst>
                <a:path w="1784800" h="628800">
                  <a:moveTo>
                    <a:pt x="0" y="0"/>
                  </a:moveTo>
                  <a:lnTo>
                    <a:pt x="1784800" y="0"/>
                  </a:lnTo>
                  <a:lnTo>
                    <a:pt x="1784800" y="628800"/>
                  </a:lnTo>
                  <a:lnTo>
                    <a:pt x="0" y="6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306" b="-530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1784794" cy="6859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63"/>
                </a:lnSpc>
              </a:pPr>
              <a:r>
                <a:rPr lang="en-US" sz="2799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2013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589256" y="3920252"/>
            <a:ext cx="3157780" cy="884132"/>
            <a:chOff x="0" y="0"/>
            <a:chExt cx="2678027" cy="74980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678032" cy="749806"/>
            </a:xfrm>
            <a:custGeom>
              <a:avLst/>
              <a:gdLst/>
              <a:ahLst/>
              <a:cxnLst/>
              <a:rect l="l" t="t" r="r" b="b"/>
              <a:pathLst>
                <a:path w="2678032" h="749806">
                  <a:moveTo>
                    <a:pt x="0" y="0"/>
                  </a:moveTo>
                  <a:lnTo>
                    <a:pt x="2678032" y="0"/>
                  </a:lnTo>
                  <a:lnTo>
                    <a:pt x="2678032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33354" b="11687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678027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4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sp>
        <p:nvSpPr>
          <p:cNvPr id="34" name="Freeform 34"/>
          <p:cNvSpPr/>
          <p:nvPr/>
        </p:nvSpPr>
        <p:spPr>
          <a:xfrm rot="-2777701">
            <a:off x="9286996" y="1323512"/>
            <a:ext cx="1651985" cy="1474772"/>
          </a:xfrm>
          <a:custGeom>
            <a:avLst/>
            <a:gdLst/>
            <a:ahLst/>
            <a:cxnLst/>
            <a:rect l="l" t="t" r="r" b="b"/>
            <a:pathLst>
              <a:path w="1651985" h="1474772">
                <a:moveTo>
                  <a:pt x="0" y="0"/>
                </a:moveTo>
                <a:lnTo>
                  <a:pt x="1651985" y="0"/>
                </a:lnTo>
                <a:lnTo>
                  <a:pt x="1651985" y="1474772"/>
                </a:lnTo>
                <a:lnTo>
                  <a:pt x="0" y="1474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435587" y="1447847"/>
            <a:ext cx="8688956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CONSTRAINTS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879070" y="7576842"/>
            <a:ext cx="722586" cy="705602"/>
          </a:xfrm>
          <a:custGeom>
            <a:avLst/>
            <a:gdLst/>
            <a:ahLst/>
            <a:cxnLst/>
            <a:rect l="l" t="t" r="r" b="b"/>
            <a:pathLst>
              <a:path w="722586" h="705602">
                <a:moveTo>
                  <a:pt x="0" y="0"/>
                </a:moveTo>
                <a:lnTo>
                  <a:pt x="722586" y="0"/>
                </a:lnTo>
                <a:lnTo>
                  <a:pt x="722586" y="705603"/>
                </a:lnTo>
                <a:lnTo>
                  <a:pt x="0" y="7056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887548" y="5326523"/>
            <a:ext cx="705602" cy="705602"/>
          </a:xfrm>
          <a:custGeom>
            <a:avLst/>
            <a:gdLst/>
            <a:ahLst/>
            <a:cxnLst/>
            <a:rect l="l" t="t" r="r" b="b"/>
            <a:pathLst>
              <a:path w="705602" h="705602">
                <a:moveTo>
                  <a:pt x="0" y="0"/>
                </a:moveTo>
                <a:lnTo>
                  <a:pt x="705602" y="0"/>
                </a:lnTo>
                <a:lnTo>
                  <a:pt x="705602" y="705602"/>
                </a:lnTo>
                <a:lnTo>
                  <a:pt x="0" y="7056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263831" y="6612842"/>
            <a:ext cx="9337824" cy="1562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Medicine entity is related to Disease and Prescription entities through junction tables to support many-to-many relationships and ensure normalization.</a:t>
            </a:r>
          </a:p>
        </p:txBody>
      </p:sp>
      <p:sp>
        <p:nvSpPr>
          <p:cNvPr id="5" name="Freeform 5"/>
          <p:cNvSpPr/>
          <p:nvPr/>
        </p:nvSpPr>
        <p:spPr>
          <a:xfrm>
            <a:off x="185242" y="2199505"/>
            <a:ext cx="6553002" cy="5377337"/>
          </a:xfrm>
          <a:custGeom>
            <a:avLst/>
            <a:gdLst/>
            <a:ahLst/>
            <a:cxnLst/>
            <a:rect l="l" t="t" r="r" b="b"/>
            <a:pathLst>
              <a:path w="6553002" h="5377337">
                <a:moveTo>
                  <a:pt x="0" y="0"/>
                </a:moveTo>
                <a:lnTo>
                  <a:pt x="6553002" y="0"/>
                </a:lnTo>
                <a:lnTo>
                  <a:pt x="6553002" y="5377337"/>
                </a:lnTo>
                <a:lnTo>
                  <a:pt x="0" y="537733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024218" flipV="1">
            <a:off x="6965970" y="3302232"/>
            <a:ext cx="2497610" cy="2543862"/>
          </a:xfrm>
          <a:custGeom>
            <a:avLst/>
            <a:gdLst/>
            <a:ahLst/>
            <a:cxnLst/>
            <a:rect l="l" t="t" r="r" b="b"/>
            <a:pathLst>
              <a:path w="2497610" h="2543862">
                <a:moveTo>
                  <a:pt x="0" y="2543862"/>
                </a:moveTo>
                <a:lnTo>
                  <a:pt x="2497610" y="2543862"/>
                </a:lnTo>
                <a:lnTo>
                  <a:pt x="2497610" y="0"/>
                </a:lnTo>
                <a:lnTo>
                  <a:pt x="0" y="0"/>
                </a:lnTo>
                <a:lnTo>
                  <a:pt x="0" y="2543862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475497" y="5731720"/>
            <a:ext cx="4177737" cy="881123"/>
          </a:xfrm>
          <a:custGeom>
            <a:avLst/>
            <a:gdLst/>
            <a:ahLst/>
            <a:cxnLst/>
            <a:rect l="l" t="t" r="r" b="b"/>
            <a:pathLst>
              <a:path w="4177737" h="881123">
                <a:moveTo>
                  <a:pt x="0" y="0"/>
                </a:moveTo>
                <a:lnTo>
                  <a:pt x="4177737" y="0"/>
                </a:lnTo>
                <a:lnTo>
                  <a:pt x="4177737" y="881122"/>
                </a:lnTo>
                <a:lnTo>
                  <a:pt x="0" y="8811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7836604" y="5731720"/>
            <a:ext cx="3455524" cy="884132"/>
            <a:chOff x="0" y="0"/>
            <a:chExt cx="2930535" cy="74980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30541" cy="749806"/>
            </a:xfrm>
            <a:custGeom>
              <a:avLst/>
              <a:gdLst/>
              <a:ahLst/>
              <a:cxnLst/>
              <a:rect l="l" t="t" r="r" b="b"/>
              <a:pathLst>
                <a:path w="2930541" h="749806">
                  <a:moveTo>
                    <a:pt x="0" y="0"/>
                  </a:moveTo>
                  <a:lnTo>
                    <a:pt x="2930541" y="0"/>
                  </a:lnTo>
                  <a:lnTo>
                    <a:pt x="2930541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13">
                <a:alphaModFix amt="0"/>
              </a:blip>
              <a:stretch>
                <a:fillRect t="-4450" r="39096" b="11687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930535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12"/>
                </a:lnSpc>
              </a:pPr>
              <a:r>
                <a:rPr lang="en-US" sz="24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Relationship Description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85242" y="301564"/>
            <a:ext cx="11120438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Relational Schema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5299" y="3428971"/>
            <a:ext cx="3657784" cy="394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MEDICINE(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medicine_id PK,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medicine_name,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manufacture_date,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expiry_date,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price,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disease_used_for,</a:t>
            </a:r>
          </a:p>
          <a:p>
            <a:pPr algn="ctr">
              <a:lnSpc>
                <a:spcPts val="3520"/>
              </a:lnSpc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dosage</a:t>
            </a:r>
          </a:p>
          <a:p>
            <a:pPr algn="ctr">
              <a:lnSpc>
                <a:spcPts val="3520"/>
              </a:lnSpc>
              <a:spcBef>
                <a:spcPct val="0"/>
              </a:spcBef>
            </a:pPr>
            <a:r>
              <a:rPr lang="en-US" sz="29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9379" y="3898789"/>
            <a:ext cx="7629587" cy="5228668"/>
          </a:xfrm>
          <a:custGeom>
            <a:avLst/>
            <a:gdLst/>
            <a:ahLst/>
            <a:cxnLst/>
            <a:rect l="l" t="t" r="r" b="b"/>
            <a:pathLst>
              <a:path w="7629587" h="5228668">
                <a:moveTo>
                  <a:pt x="0" y="0"/>
                </a:moveTo>
                <a:lnTo>
                  <a:pt x="7629587" y="0"/>
                </a:lnTo>
                <a:lnTo>
                  <a:pt x="7629587" y="5228668"/>
                </a:lnTo>
                <a:lnTo>
                  <a:pt x="0" y="52286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79845" y="2897178"/>
            <a:ext cx="205777" cy="205777"/>
            <a:chOff x="0" y="0"/>
            <a:chExt cx="310401" cy="31040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sp>
        <p:nvSpPr>
          <p:cNvPr id="5" name="Freeform 5"/>
          <p:cNvSpPr/>
          <p:nvPr/>
        </p:nvSpPr>
        <p:spPr>
          <a:xfrm>
            <a:off x="8378966" y="3642249"/>
            <a:ext cx="9761534" cy="5616051"/>
          </a:xfrm>
          <a:custGeom>
            <a:avLst/>
            <a:gdLst/>
            <a:ahLst/>
            <a:cxnLst/>
            <a:rect l="l" t="t" r="r" b="b"/>
            <a:pathLst>
              <a:path w="9761534" h="5616051">
                <a:moveTo>
                  <a:pt x="0" y="0"/>
                </a:moveTo>
                <a:lnTo>
                  <a:pt x="9761534" y="0"/>
                </a:lnTo>
                <a:lnTo>
                  <a:pt x="9761534" y="5616051"/>
                </a:lnTo>
                <a:lnTo>
                  <a:pt x="0" y="56160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626630" y="2933614"/>
            <a:ext cx="205777" cy="205777"/>
            <a:chOff x="0" y="0"/>
            <a:chExt cx="310401" cy="3104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609600" y="497196"/>
            <a:ext cx="3783062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Code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62685" y="2712969"/>
            <a:ext cx="5619115" cy="574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2F4A8A"/>
                </a:solidFill>
                <a:latin typeface="Canva Sans"/>
                <a:ea typeface="Canva Sans"/>
                <a:cs typeface="Canva Sans"/>
                <a:sym typeface="Canva Sans"/>
              </a:rPr>
              <a:t>CREATE TABLE MEDICINE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86524" y="2712969"/>
            <a:ext cx="7015476" cy="5803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2F4A8A"/>
                </a:solidFill>
                <a:latin typeface="Canva Sans"/>
                <a:ea typeface="Canva Sans"/>
                <a:cs typeface="Canva Sans"/>
                <a:sym typeface="Canva Sans"/>
              </a:rPr>
              <a:t>INSERT INTO MEDICINE VALUES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16399" y="4605847"/>
            <a:ext cx="7636802" cy="3659505"/>
            <a:chOff x="0" y="0"/>
            <a:chExt cx="10182403" cy="48793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182400" cy="4879345"/>
            </a:xfrm>
            <a:custGeom>
              <a:avLst/>
              <a:gdLst/>
              <a:ahLst/>
              <a:cxnLst/>
              <a:rect l="l" t="t" r="r" b="b"/>
              <a:pathLst>
                <a:path w="10182400" h="4879345">
                  <a:moveTo>
                    <a:pt x="0" y="0"/>
                  </a:moveTo>
                  <a:lnTo>
                    <a:pt x="10182400" y="0"/>
                  </a:lnTo>
                  <a:lnTo>
                    <a:pt x="10182400" y="4879345"/>
                  </a:lnTo>
                  <a:lnTo>
                    <a:pt x="0" y="48793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40" b="23316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0182403" cy="48888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720"/>
                </a:lnSpc>
              </a:pPr>
              <a:r>
                <a:rPr lang="en-US" sz="156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Disease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4656746" y="3411645"/>
            <a:ext cx="2006603" cy="5353250"/>
          </a:xfrm>
          <a:custGeom>
            <a:avLst/>
            <a:gdLst/>
            <a:ahLst/>
            <a:cxnLst/>
            <a:rect l="l" t="t" r="r" b="b"/>
            <a:pathLst>
              <a:path w="2006603" h="5353250">
                <a:moveTo>
                  <a:pt x="0" y="0"/>
                </a:moveTo>
                <a:lnTo>
                  <a:pt x="2006603" y="0"/>
                </a:lnTo>
                <a:lnTo>
                  <a:pt x="2006603" y="5353250"/>
                </a:lnTo>
                <a:lnTo>
                  <a:pt x="0" y="5353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793100" y="3221298"/>
            <a:ext cx="1770802" cy="2291353"/>
          </a:xfrm>
          <a:custGeom>
            <a:avLst/>
            <a:gdLst/>
            <a:ahLst/>
            <a:cxnLst/>
            <a:rect l="l" t="t" r="r" b="b"/>
            <a:pathLst>
              <a:path w="1770802" h="2291353">
                <a:moveTo>
                  <a:pt x="0" y="0"/>
                </a:moveTo>
                <a:lnTo>
                  <a:pt x="1770803" y="0"/>
                </a:lnTo>
                <a:lnTo>
                  <a:pt x="1770803" y="2291353"/>
                </a:lnTo>
                <a:lnTo>
                  <a:pt x="0" y="22913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91098" y="6991141"/>
            <a:ext cx="2236299" cy="1959702"/>
          </a:xfrm>
          <a:custGeom>
            <a:avLst/>
            <a:gdLst/>
            <a:ahLst/>
            <a:cxnLst/>
            <a:rect l="l" t="t" r="r" b="b"/>
            <a:pathLst>
              <a:path w="2236299" h="1959702">
                <a:moveTo>
                  <a:pt x="0" y="0"/>
                </a:moveTo>
                <a:lnTo>
                  <a:pt x="2236299" y="0"/>
                </a:lnTo>
                <a:lnTo>
                  <a:pt x="2236299" y="1959702"/>
                </a:lnTo>
                <a:lnTo>
                  <a:pt x="0" y="1959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6066330" y="855050"/>
            <a:ext cx="1650502" cy="1343597"/>
          </a:xfrm>
          <a:custGeom>
            <a:avLst/>
            <a:gdLst/>
            <a:ahLst/>
            <a:cxnLst/>
            <a:rect l="l" t="t" r="r" b="b"/>
            <a:pathLst>
              <a:path w="1650502" h="1343597">
                <a:moveTo>
                  <a:pt x="0" y="0"/>
                </a:moveTo>
                <a:lnTo>
                  <a:pt x="1650501" y="0"/>
                </a:lnTo>
                <a:lnTo>
                  <a:pt x="1650501" y="1343596"/>
                </a:lnTo>
                <a:lnTo>
                  <a:pt x="0" y="1343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901048" y="1455449"/>
            <a:ext cx="330184" cy="330184"/>
          </a:xfrm>
          <a:custGeom>
            <a:avLst/>
            <a:gdLst/>
            <a:ahLst/>
            <a:cxnLst/>
            <a:rect l="l" t="t" r="r" b="b"/>
            <a:pathLst>
              <a:path w="330184" h="330184">
                <a:moveTo>
                  <a:pt x="0" y="0"/>
                </a:moveTo>
                <a:lnTo>
                  <a:pt x="330184" y="0"/>
                </a:lnTo>
                <a:lnTo>
                  <a:pt x="330184" y="330184"/>
                </a:lnTo>
                <a:lnTo>
                  <a:pt x="0" y="3301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 rot="2700000">
            <a:off x="10012575" y="8057150"/>
            <a:ext cx="416176" cy="416414"/>
            <a:chOff x="0" y="0"/>
            <a:chExt cx="554901" cy="555219"/>
          </a:xfrm>
        </p:grpSpPr>
        <p:sp>
          <p:nvSpPr>
            <p:cNvPr id="11" name="Freeform 11"/>
            <p:cNvSpPr/>
            <p:nvPr/>
          </p:nvSpPr>
          <p:spPr>
            <a:xfrm>
              <a:off x="0" y="254"/>
              <a:ext cx="554863" cy="554609"/>
            </a:xfrm>
            <a:custGeom>
              <a:avLst/>
              <a:gdLst/>
              <a:ahLst/>
              <a:cxnLst/>
              <a:rect l="l" t="t" r="r" b="b"/>
              <a:pathLst>
                <a:path w="554863" h="554609">
                  <a:moveTo>
                    <a:pt x="213614" y="0"/>
                  </a:moveTo>
                  <a:lnTo>
                    <a:pt x="213614" y="209296"/>
                  </a:lnTo>
                  <a:lnTo>
                    <a:pt x="0" y="209296"/>
                  </a:lnTo>
                  <a:lnTo>
                    <a:pt x="0" y="340995"/>
                  </a:lnTo>
                  <a:lnTo>
                    <a:pt x="213614" y="340995"/>
                  </a:lnTo>
                  <a:lnTo>
                    <a:pt x="213614" y="554609"/>
                  </a:lnTo>
                  <a:lnTo>
                    <a:pt x="345694" y="554609"/>
                  </a:lnTo>
                  <a:lnTo>
                    <a:pt x="345694" y="340995"/>
                  </a:lnTo>
                  <a:lnTo>
                    <a:pt x="554863" y="340995"/>
                  </a:lnTo>
                  <a:lnTo>
                    <a:pt x="554863" y="209296"/>
                  </a:lnTo>
                  <a:lnTo>
                    <a:pt x="345694" y="209296"/>
                  </a:lnTo>
                  <a:lnTo>
                    <a:pt x="345694" y="0"/>
                  </a:lnTo>
                  <a:close/>
                </a:path>
              </a:pathLst>
            </a:custGeom>
            <a:solidFill>
              <a:srgbClr val="C3D9FB"/>
            </a:solidFill>
          </p:spPr>
        </p:sp>
      </p:grpSp>
      <p:grpSp>
        <p:nvGrpSpPr>
          <p:cNvPr id="12" name="Group 12"/>
          <p:cNvGrpSpPr/>
          <p:nvPr/>
        </p:nvGrpSpPr>
        <p:grpSpPr>
          <a:xfrm rot="2700000">
            <a:off x="3761508" y="2160784"/>
            <a:ext cx="309524" cy="309705"/>
            <a:chOff x="0" y="0"/>
            <a:chExt cx="412699" cy="412940"/>
          </a:xfrm>
        </p:grpSpPr>
        <p:sp>
          <p:nvSpPr>
            <p:cNvPr id="13" name="Freeform 13"/>
            <p:cNvSpPr/>
            <p:nvPr/>
          </p:nvSpPr>
          <p:spPr>
            <a:xfrm>
              <a:off x="0" y="254"/>
              <a:ext cx="412750" cy="412496"/>
            </a:xfrm>
            <a:custGeom>
              <a:avLst/>
              <a:gdLst/>
              <a:ahLst/>
              <a:cxnLst/>
              <a:rect l="l" t="t" r="r" b="b"/>
              <a:pathLst>
                <a:path w="412750" h="412496">
                  <a:moveTo>
                    <a:pt x="158877" y="0"/>
                  </a:moveTo>
                  <a:lnTo>
                    <a:pt x="158877" y="155575"/>
                  </a:lnTo>
                  <a:lnTo>
                    <a:pt x="0" y="155575"/>
                  </a:lnTo>
                  <a:lnTo>
                    <a:pt x="0" y="253619"/>
                  </a:lnTo>
                  <a:lnTo>
                    <a:pt x="158877" y="253619"/>
                  </a:lnTo>
                  <a:lnTo>
                    <a:pt x="158877" y="412496"/>
                  </a:lnTo>
                  <a:lnTo>
                    <a:pt x="257048" y="412496"/>
                  </a:lnTo>
                  <a:lnTo>
                    <a:pt x="257048" y="253619"/>
                  </a:lnTo>
                  <a:lnTo>
                    <a:pt x="412750" y="253619"/>
                  </a:lnTo>
                  <a:lnTo>
                    <a:pt x="412750" y="155575"/>
                  </a:lnTo>
                  <a:lnTo>
                    <a:pt x="257048" y="155575"/>
                  </a:lnTo>
                  <a:lnTo>
                    <a:pt x="257048" y="0"/>
                  </a:lnTo>
                  <a:close/>
                </a:path>
              </a:pathLst>
            </a:custGeom>
            <a:solidFill>
              <a:srgbClr val="C3D9FB"/>
            </a:solidFill>
          </p:spPr>
        </p:sp>
      </p:grpSp>
      <p:sp>
        <p:nvSpPr>
          <p:cNvPr id="14" name="Freeform 14"/>
          <p:cNvSpPr/>
          <p:nvPr/>
        </p:nvSpPr>
        <p:spPr>
          <a:xfrm>
            <a:off x="11623386" y="7910341"/>
            <a:ext cx="719585" cy="710022"/>
          </a:xfrm>
          <a:custGeom>
            <a:avLst/>
            <a:gdLst/>
            <a:ahLst/>
            <a:cxnLst/>
            <a:rect l="l" t="t" r="r" b="b"/>
            <a:pathLst>
              <a:path w="719585" h="710022">
                <a:moveTo>
                  <a:pt x="0" y="0"/>
                </a:moveTo>
                <a:lnTo>
                  <a:pt x="719585" y="0"/>
                </a:lnTo>
                <a:lnTo>
                  <a:pt x="719585" y="710022"/>
                </a:lnTo>
                <a:lnTo>
                  <a:pt x="0" y="71002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538299" y="1309402"/>
            <a:ext cx="1330300" cy="1322451"/>
          </a:xfrm>
          <a:custGeom>
            <a:avLst/>
            <a:gdLst/>
            <a:ahLst/>
            <a:cxnLst/>
            <a:rect l="l" t="t" r="r" b="b"/>
            <a:pathLst>
              <a:path w="1330300" h="1322451">
                <a:moveTo>
                  <a:pt x="0" y="0"/>
                </a:moveTo>
                <a:lnTo>
                  <a:pt x="1330300" y="0"/>
                </a:lnTo>
                <a:lnTo>
                  <a:pt x="1330300" y="1322451"/>
                </a:lnTo>
                <a:lnTo>
                  <a:pt x="0" y="132245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 rot="2700000">
            <a:off x="13547207" y="2444629"/>
            <a:ext cx="309524" cy="309705"/>
            <a:chOff x="0" y="0"/>
            <a:chExt cx="412699" cy="412940"/>
          </a:xfrm>
        </p:grpSpPr>
        <p:sp>
          <p:nvSpPr>
            <p:cNvPr id="17" name="Freeform 17"/>
            <p:cNvSpPr/>
            <p:nvPr/>
          </p:nvSpPr>
          <p:spPr>
            <a:xfrm>
              <a:off x="0" y="254"/>
              <a:ext cx="412750" cy="412496"/>
            </a:xfrm>
            <a:custGeom>
              <a:avLst/>
              <a:gdLst/>
              <a:ahLst/>
              <a:cxnLst/>
              <a:rect l="l" t="t" r="r" b="b"/>
              <a:pathLst>
                <a:path w="412750" h="412496">
                  <a:moveTo>
                    <a:pt x="158877" y="0"/>
                  </a:moveTo>
                  <a:lnTo>
                    <a:pt x="158877" y="155575"/>
                  </a:lnTo>
                  <a:lnTo>
                    <a:pt x="0" y="155575"/>
                  </a:lnTo>
                  <a:lnTo>
                    <a:pt x="0" y="253619"/>
                  </a:lnTo>
                  <a:lnTo>
                    <a:pt x="158877" y="253619"/>
                  </a:lnTo>
                  <a:lnTo>
                    <a:pt x="158877" y="412496"/>
                  </a:lnTo>
                  <a:lnTo>
                    <a:pt x="257048" y="412496"/>
                  </a:lnTo>
                  <a:lnTo>
                    <a:pt x="257048" y="253619"/>
                  </a:lnTo>
                  <a:lnTo>
                    <a:pt x="412750" y="253619"/>
                  </a:lnTo>
                  <a:lnTo>
                    <a:pt x="412750" y="155575"/>
                  </a:lnTo>
                  <a:lnTo>
                    <a:pt x="257048" y="155575"/>
                  </a:lnTo>
                  <a:lnTo>
                    <a:pt x="257048" y="0"/>
                  </a:lnTo>
                  <a:close/>
                </a:path>
              </a:pathLst>
            </a:custGeom>
            <a:solidFill>
              <a:srgbClr val="C3D9FB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4427397" y="2631853"/>
            <a:ext cx="2910002" cy="2796597"/>
            <a:chOff x="0" y="0"/>
            <a:chExt cx="3880002" cy="37287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80000" cy="3728800"/>
            </a:xfrm>
            <a:custGeom>
              <a:avLst/>
              <a:gdLst/>
              <a:ahLst/>
              <a:cxnLst/>
              <a:rect l="l" t="t" r="r" b="b"/>
              <a:pathLst>
                <a:path w="3880000" h="3728800">
                  <a:moveTo>
                    <a:pt x="0" y="0"/>
                  </a:moveTo>
                  <a:lnTo>
                    <a:pt x="3880000" y="0"/>
                  </a:lnTo>
                  <a:lnTo>
                    <a:pt x="3880000" y="3728800"/>
                  </a:lnTo>
                  <a:lnTo>
                    <a:pt x="0" y="37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3303" r="-73303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3880002" cy="3738321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8720"/>
                </a:lnSpc>
              </a:pPr>
              <a:r>
                <a:rPr lang="en-US" sz="156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02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6726498" y="7782401"/>
            <a:ext cx="330184" cy="330184"/>
          </a:xfrm>
          <a:custGeom>
            <a:avLst/>
            <a:gdLst/>
            <a:ahLst/>
            <a:cxnLst/>
            <a:rect l="l" t="t" r="r" b="b"/>
            <a:pathLst>
              <a:path w="330184" h="330184">
                <a:moveTo>
                  <a:pt x="0" y="0"/>
                </a:moveTo>
                <a:lnTo>
                  <a:pt x="330184" y="0"/>
                </a:lnTo>
                <a:lnTo>
                  <a:pt x="330184" y="330184"/>
                </a:lnTo>
                <a:lnTo>
                  <a:pt x="0" y="3301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602226" y="2790873"/>
            <a:ext cx="1276198" cy="1276198"/>
            <a:chOff x="0" y="0"/>
            <a:chExt cx="1701597" cy="17015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5602226" y="5041202"/>
            <a:ext cx="1276198" cy="1276198"/>
            <a:chOff x="0" y="0"/>
            <a:chExt cx="1701597" cy="170159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5602226" y="7291530"/>
            <a:ext cx="1276198" cy="1276198"/>
            <a:chOff x="0" y="0"/>
            <a:chExt cx="1701597" cy="170159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15887548" y="5326523"/>
            <a:ext cx="705602" cy="705602"/>
          </a:xfrm>
          <a:custGeom>
            <a:avLst/>
            <a:gdLst/>
            <a:ahLst/>
            <a:cxnLst/>
            <a:rect l="l" t="t" r="r" b="b"/>
            <a:pathLst>
              <a:path w="705602" h="705602">
                <a:moveTo>
                  <a:pt x="0" y="0"/>
                </a:moveTo>
                <a:lnTo>
                  <a:pt x="705602" y="0"/>
                </a:lnTo>
                <a:lnTo>
                  <a:pt x="705602" y="705602"/>
                </a:lnTo>
                <a:lnTo>
                  <a:pt x="0" y="70560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718244" y="2906852"/>
            <a:ext cx="1044239" cy="1044239"/>
          </a:xfrm>
          <a:custGeom>
            <a:avLst/>
            <a:gdLst/>
            <a:ahLst/>
            <a:cxnLst/>
            <a:rect l="l" t="t" r="r" b="b"/>
            <a:pathLst>
              <a:path w="1044239" h="1044239">
                <a:moveTo>
                  <a:pt x="0" y="0"/>
                </a:moveTo>
                <a:lnTo>
                  <a:pt x="1044238" y="0"/>
                </a:lnTo>
                <a:lnTo>
                  <a:pt x="1044238" y="1044239"/>
                </a:lnTo>
                <a:lnTo>
                  <a:pt x="0" y="10442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718206" y="7403249"/>
            <a:ext cx="1044239" cy="1044239"/>
          </a:xfrm>
          <a:custGeom>
            <a:avLst/>
            <a:gdLst/>
            <a:ahLst/>
            <a:cxnLst/>
            <a:rect l="l" t="t" r="r" b="b"/>
            <a:pathLst>
              <a:path w="1044239" h="1044239">
                <a:moveTo>
                  <a:pt x="0" y="0"/>
                </a:moveTo>
                <a:lnTo>
                  <a:pt x="1044238" y="0"/>
                </a:lnTo>
                <a:lnTo>
                  <a:pt x="1044238" y="1044239"/>
                </a:lnTo>
                <a:lnTo>
                  <a:pt x="0" y="10442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846159"/>
            <a:ext cx="5707456" cy="1323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04"/>
              </a:lnSpc>
            </a:pPr>
            <a:r>
              <a:rPr lang="en-US" sz="8753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Description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7319" y="3150437"/>
            <a:ext cx="14443825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60"/>
              </a:lnSpc>
              <a:spcBef>
                <a:spcPct val="0"/>
              </a:spcBef>
            </a:pPr>
            <a:r>
              <a:rPr lang="en-US" sz="313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Disease entity stores basic information about diseases in the system.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44505" y="7815720"/>
            <a:ext cx="9456343" cy="48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includes an ID, name, and type of disease.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83133" y="5478338"/>
            <a:ext cx="11917716" cy="485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It helps organize diseases and improve database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5508876" y="1028700"/>
            <a:ext cx="6674443" cy="2576759"/>
            <a:chOff x="0" y="0"/>
            <a:chExt cx="8892925" cy="34332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892923" cy="3433224"/>
            </a:xfrm>
            <a:custGeom>
              <a:avLst/>
              <a:gdLst/>
              <a:ahLst/>
              <a:cxnLst/>
              <a:rect l="l" t="t" r="r" b="b"/>
              <a:pathLst>
                <a:path w="8892923" h="3433224">
                  <a:moveTo>
                    <a:pt x="0" y="0"/>
                  </a:moveTo>
                  <a:lnTo>
                    <a:pt x="8892923" y="0"/>
                  </a:lnTo>
                  <a:lnTo>
                    <a:pt x="8892923" y="3433224"/>
                  </a:lnTo>
                  <a:lnTo>
                    <a:pt x="0" y="34332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22401" r="-13267" b="8066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8892925" cy="3433233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880"/>
                </a:lnSpc>
              </a:pPr>
              <a:r>
                <a:rPr lang="en-US" sz="99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Attributes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-261639" y="8113775"/>
            <a:ext cx="7371750" cy="542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3599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 _ id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193131" y="7111397"/>
            <a:ext cx="7371750" cy="292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 b="1" dirty="0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DISEASE(</a:t>
            </a:r>
          </a:p>
          <a:p>
            <a:pPr algn="ctr">
              <a:lnSpc>
                <a:spcPts val="3359"/>
              </a:lnSpc>
            </a:pPr>
            <a:endParaRPr lang="en-US" sz="2799" b="1" dirty="0">
              <a:solidFill>
                <a:srgbClr val="66666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359"/>
              </a:lnSpc>
            </a:pPr>
            <a:r>
              <a:rPr lang="en-US" sz="2799" b="1" dirty="0" err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disease_name</a:t>
            </a:r>
            <a:r>
              <a:rPr lang="en-US" sz="2799" b="1" dirty="0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,</a:t>
            </a:r>
          </a:p>
          <a:p>
            <a:pPr algn="ctr">
              <a:lnSpc>
                <a:spcPts val="3359"/>
              </a:lnSpc>
            </a:pPr>
            <a:endParaRPr lang="en-US" sz="2799" b="1" dirty="0">
              <a:solidFill>
                <a:srgbClr val="66666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359"/>
              </a:lnSpc>
            </a:pPr>
            <a:r>
              <a:rPr lang="en-US" sz="2799" b="1" dirty="0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 type</a:t>
            </a:r>
          </a:p>
          <a:p>
            <a:pPr algn="ctr">
              <a:lnSpc>
                <a:spcPts val="3359"/>
              </a:lnSpc>
            </a:pPr>
            <a:endParaRPr lang="en-US" sz="2799" b="1" dirty="0">
              <a:solidFill>
                <a:srgbClr val="66666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3359"/>
              </a:lnSpc>
            </a:pPr>
            <a:r>
              <a:rPr lang="en-US" sz="2799" b="1" dirty="0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 id PK, 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08876" y="3775471"/>
            <a:ext cx="7270191" cy="2619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5"/>
              </a:lnSpc>
            </a:pPr>
            <a:r>
              <a:rPr lang="en-US" sz="3462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disease_id</a:t>
            </a:r>
          </a:p>
          <a:p>
            <a:pPr algn="ctr">
              <a:lnSpc>
                <a:spcPts val="4155"/>
              </a:lnSpc>
            </a:pPr>
            <a:endParaRPr lang="en-US" sz="3462" b="1">
              <a:solidFill>
                <a:srgbClr val="66666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4155"/>
              </a:lnSpc>
            </a:pPr>
            <a:r>
              <a:rPr lang="en-US" sz="3462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 _name</a:t>
            </a:r>
          </a:p>
          <a:p>
            <a:pPr algn="ctr">
              <a:lnSpc>
                <a:spcPts val="4155"/>
              </a:lnSpc>
            </a:pPr>
            <a:endParaRPr lang="en-US" sz="3462" b="1">
              <a:solidFill>
                <a:srgbClr val="666666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ctr">
              <a:lnSpc>
                <a:spcPts val="4155"/>
              </a:lnSpc>
            </a:pPr>
            <a:r>
              <a:rPr lang="en-US" sz="3462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disease_type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42846" y="3213478"/>
            <a:ext cx="6562781" cy="4318980"/>
            <a:chOff x="0" y="0"/>
            <a:chExt cx="8912580" cy="58653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912578" cy="5865371"/>
            </a:xfrm>
            <a:custGeom>
              <a:avLst/>
              <a:gdLst/>
              <a:ahLst/>
              <a:cxnLst/>
              <a:rect l="l" t="t" r="r" b="b"/>
              <a:pathLst>
                <a:path w="8912578" h="5865371">
                  <a:moveTo>
                    <a:pt x="0" y="0"/>
                  </a:moveTo>
                  <a:lnTo>
                    <a:pt x="8912578" y="0"/>
                  </a:lnTo>
                  <a:lnTo>
                    <a:pt x="8912578" y="5865371"/>
                  </a:lnTo>
                  <a:lnTo>
                    <a:pt x="0" y="586537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3112" r="-13017" b="46187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8912580" cy="586538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880"/>
                </a:lnSpc>
              </a:pPr>
              <a:r>
                <a:rPr lang="en-US" sz="99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160289" y="3330322"/>
            <a:ext cx="7554601" cy="3859386"/>
            <a:chOff x="-1" y="-301196"/>
            <a:chExt cx="10072802" cy="514584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072800" cy="4844652"/>
            </a:xfrm>
            <a:custGeom>
              <a:avLst/>
              <a:gdLst/>
              <a:ahLst/>
              <a:cxnLst/>
              <a:rect l="l" t="t" r="r" b="b"/>
              <a:pathLst>
                <a:path w="10072800" h="4844652">
                  <a:moveTo>
                    <a:pt x="0" y="0"/>
                  </a:moveTo>
                  <a:lnTo>
                    <a:pt x="10072800" y="0"/>
                  </a:lnTo>
                  <a:lnTo>
                    <a:pt x="10072800" y="4844652"/>
                  </a:lnTo>
                  <a:lnTo>
                    <a:pt x="0" y="484465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15874" b="34849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-1" y="-301196"/>
              <a:ext cx="10072802" cy="4835140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1280"/>
                </a:lnSpc>
              </a:pPr>
              <a:r>
                <a:rPr lang="en-US" sz="94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Relational Schema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90875" y="1250347"/>
            <a:ext cx="6649997" cy="2724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99"/>
              </a:lnSpc>
            </a:pPr>
            <a:r>
              <a:rPr lang="en-US" sz="8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Disease Types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168786" y="2034590"/>
            <a:ext cx="4692181" cy="685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403"/>
              </a:lnSpc>
            </a:pPr>
            <a:r>
              <a:rPr lang="en-US" sz="4503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Infectious Disease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6230600" y="2257654"/>
            <a:ext cx="324002" cy="324002"/>
            <a:chOff x="0" y="0"/>
            <a:chExt cx="432003" cy="4320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2054" cy="432054"/>
            </a:xfrm>
            <a:custGeom>
              <a:avLst/>
              <a:gdLst/>
              <a:ahLst/>
              <a:cxnLst/>
              <a:rect l="l" t="t" r="r" b="b"/>
              <a:pathLst>
                <a:path w="432054" h="432054">
                  <a:moveTo>
                    <a:pt x="0" y="216027"/>
                  </a:moveTo>
                  <a:cubicBezTo>
                    <a:pt x="0" y="96647"/>
                    <a:pt x="96647" y="0"/>
                    <a:pt x="216027" y="0"/>
                  </a:cubicBezTo>
                  <a:cubicBezTo>
                    <a:pt x="335407" y="0"/>
                    <a:pt x="432054" y="96647"/>
                    <a:pt x="432054" y="216027"/>
                  </a:cubicBezTo>
                  <a:cubicBezTo>
                    <a:pt x="432054" y="335407"/>
                    <a:pt x="335280" y="432054"/>
                    <a:pt x="216027" y="432054"/>
                  </a:cubicBezTo>
                  <a:cubicBezTo>
                    <a:pt x="96774" y="432054"/>
                    <a:pt x="0" y="335280"/>
                    <a:pt x="0" y="216027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2939628" y="4492443"/>
            <a:ext cx="2921339" cy="74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26"/>
              </a:lnSpc>
            </a:pPr>
            <a:r>
              <a:rPr lang="en-US" sz="4938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Deficiency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230600" y="4734449"/>
            <a:ext cx="324002" cy="324002"/>
            <a:chOff x="0" y="0"/>
            <a:chExt cx="432003" cy="43200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2054" cy="432054"/>
            </a:xfrm>
            <a:custGeom>
              <a:avLst/>
              <a:gdLst/>
              <a:ahLst/>
              <a:cxnLst/>
              <a:rect l="l" t="t" r="r" b="b"/>
              <a:pathLst>
                <a:path w="432054" h="432054">
                  <a:moveTo>
                    <a:pt x="0" y="216027"/>
                  </a:moveTo>
                  <a:cubicBezTo>
                    <a:pt x="0" y="96647"/>
                    <a:pt x="96647" y="0"/>
                    <a:pt x="216027" y="0"/>
                  </a:cubicBezTo>
                  <a:cubicBezTo>
                    <a:pt x="335407" y="0"/>
                    <a:pt x="432054" y="96647"/>
                    <a:pt x="432054" y="216027"/>
                  </a:cubicBezTo>
                  <a:cubicBezTo>
                    <a:pt x="432054" y="335407"/>
                    <a:pt x="335280" y="432054"/>
                    <a:pt x="216027" y="432054"/>
                  </a:cubicBezTo>
                  <a:cubicBezTo>
                    <a:pt x="96774" y="432054"/>
                    <a:pt x="0" y="335280"/>
                    <a:pt x="0" y="216027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8072018" y="6773180"/>
            <a:ext cx="7788950" cy="120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99"/>
              </a:lnSpc>
            </a:pPr>
            <a:r>
              <a:rPr lang="en-US" sz="39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Genetic Hereditary DISEASE </a:t>
            </a:r>
          </a:p>
          <a:p>
            <a:pPr algn="r">
              <a:lnSpc>
                <a:spcPts val="4799"/>
              </a:lnSpc>
            </a:pPr>
            <a:r>
              <a:rPr lang="en-US" sz="39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Non _ Genetic Hereditary Disease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230600" y="7211254"/>
            <a:ext cx="324002" cy="324002"/>
            <a:chOff x="0" y="0"/>
            <a:chExt cx="432003" cy="4320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2054" cy="432054"/>
            </a:xfrm>
            <a:custGeom>
              <a:avLst/>
              <a:gdLst/>
              <a:ahLst/>
              <a:cxnLst/>
              <a:rect l="l" t="t" r="r" b="b"/>
              <a:pathLst>
                <a:path w="432054" h="432054">
                  <a:moveTo>
                    <a:pt x="0" y="216027"/>
                  </a:moveTo>
                  <a:cubicBezTo>
                    <a:pt x="0" y="96647"/>
                    <a:pt x="96647" y="0"/>
                    <a:pt x="216027" y="0"/>
                  </a:cubicBezTo>
                  <a:cubicBezTo>
                    <a:pt x="335407" y="0"/>
                    <a:pt x="432054" y="96647"/>
                    <a:pt x="432054" y="216027"/>
                  </a:cubicBezTo>
                  <a:cubicBezTo>
                    <a:pt x="432054" y="335407"/>
                    <a:pt x="335280" y="432054"/>
                    <a:pt x="216027" y="432054"/>
                  </a:cubicBezTo>
                  <a:cubicBezTo>
                    <a:pt x="96774" y="432054"/>
                    <a:pt x="0" y="335280"/>
                    <a:pt x="0" y="216027"/>
                  </a:cubicBezTo>
                  <a:close/>
                </a:path>
              </a:pathLst>
            </a:custGeom>
            <a:solidFill>
              <a:srgbClr val="FFB172"/>
            </a:solidFill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05000" y="1535583"/>
            <a:ext cx="5348581" cy="7069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19"/>
              </a:lnSpc>
            </a:pPr>
            <a:r>
              <a:rPr lang="en-US" sz="5700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CONSTRAINTS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275967" y="1655186"/>
            <a:ext cx="324002" cy="324002"/>
            <a:chOff x="0" y="0"/>
            <a:chExt cx="432003" cy="4320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2054" cy="432054"/>
            </a:xfrm>
            <a:custGeom>
              <a:avLst/>
              <a:gdLst/>
              <a:ahLst/>
              <a:cxnLst/>
              <a:rect l="l" t="t" r="r" b="b"/>
              <a:pathLst>
                <a:path w="432054" h="432054">
                  <a:moveTo>
                    <a:pt x="0" y="216027"/>
                  </a:moveTo>
                  <a:cubicBezTo>
                    <a:pt x="0" y="96647"/>
                    <a:pt x="96647" y="0"/>
                    <a:pt x="216027" y="0"/>
                  </a:cubicBezTo>
                  <a:cubicBezTo>
                    <a:pt x="335407" y="0"/>
                    <a:pt x="432054" y="96647"/>
                    <a:pt x="432054" y="216027"/>
                  </a:cubicBezTo>
                  <a:cubicBezTo>
                    <a:pt x="432054" y="335407"/>
                    <a:pt x="335280" y="432054"/>
                    <a:pt x="216027" y="432054"/>
                  </a:cubicBezTo>
                  <a:cubicBezTo>
                    <a:pt x="96774" y="432054"/>
                    <a:pt x="0" y="335280"/>
                    <a:pt x="0" y="216027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75967" y="5721420"/>
            <a:ext cx="324002" cy="324002"/>
            <a:chOff x="0" y="0"/>
            <a:chExt cx="432003" cy="43200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2054" cy="432054"/>
            </a:xfrm>
            <a:custGeom>
              <a:avLst/>
              <a:gdLst/>
              <a:ahLst/>
              <a:cxnLst/>
              <a:rect l="l" t="t" r="r" b="b"/>
              <a:pathLst>
                <a:path w="432054" h="432054">
                  <a:moveTo>
                    <a:pt x="0" y="216027"/>
                  </a:moveTo>
                  <a:cubicBezTo>
                    <a:pt x="0" y="96647"/>
                    <a:pt x="96647" y="0"/>
                    <a:pt x="216027" y="0"/>
                  </a:cubicBezTo>
                  <a:cubicBezTo>
                    <a:pt x="335407" y="0"/>
                    <a:pt x="432054" y="96647"/>
                    <a:pt x="432054" y="216027"/>
                  </a:cubicBezTo>
                  <a:cubicBezTo>
                    <a:pt x="432054" y="335407"/>
                    <a:pt x="335280" y="432054"/>
                    <a:pt x="216027" y="432054"/>
                  </a:cubicBezTo>
                  <a:cubicBezTo>
                    <a:pt x="96774" y="432054"/>
                    <a:pt x="0" y="335280"/>
                    <a:pt x="0" y="216027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75967" y="2600478"/>
            <a:ext cx="11070124" cy="1731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9" lvl="1" indent="-377829" algn="l">
              <a:lnSpc>
                <a:spcPts val="4900"/>
              </a:lnSpc>
              <a:buFont typeface="Arial"/>
              <a:buChar char="•"/>
            </a:pPr>
            <a:r>
              <a:rPr lang="en-US" sz="3500" b="1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PRIMARY KEY (disease_id)</a:t>
            </a:r>
          </a:p>
          <a:p>
            <a:pPr marL="647711" lvl="1" indent="-323856" algn="l">
              <a:lnSpc>
                <a:spcPts val="4200"/>
              </a:lnSpc>
              <a:buFont typeface="Arial"/>
              <a:buChar char="•"/>
            </a:pPr>
            <a:r>
              <a:rPr lang="en-US" sz="3000" b="1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NULL  disease_id disease name, disease_type</a:t>
            </a:r>
          </a:p>
          <a:p>
            <a:pPr marL="734069" lvl="1" indent="-367035" algn="l">
              <a:lnSpc>
                <a:spcPts val="4760"/>
              </a:lnSpc>
              <a:buFont typeface="Arial"/>
              <a:buChar char="•"/>
            </a:pPr>
            <a:r>
              <a:rPr lang="en-US" sz="3400" b="1">
                <a:solidFill>
                  <a:srgbClr val="434343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constraint on disease_type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07507" y="5393861"/>
            <a:ext cx="9233114" cy="97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</a:pPr>
            <a:r>
              <a:rPr lang="en-US" sz="5700" dirty="0">
                <a:solidFill>
                  <a:srgbClr val="2F4A8A"/>
                </a:solidFill>
                <a:latin typeface="Alata" panose="020B0604020202020204" charset="0"/>
                <a:ea typeface="Canva Sans"/>
                <a:cs typeface="Canva Sans"/>
                <a:sym typeface="Canva Sans"/>
              </a:rPr>
              <a:t>Relationship</a:t>
            </a:r>
            <a:r>
              <a:rPr lang="en-US" sz="5700" dirty="0">
                <a:solidFill>
                  <a:srgbClr val="2F4A8A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5700" dirty="0">
                <a:solidFill>
                  <a:srgbClr val="2F4A8A"/>
                </a:solidFill>
                <a:latin typeface="Alata" panose="020B0604020202020204" charset="0"/>
                <a:ea typeface="Canva Sans"/>
                <a:cs typeface="Canva Sans"/>
                <a:sym typeface="Canva Sans"/>
              </a:rPr>
              <a:t>Description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75967" y="6662477"/>
            <a:ext cx="11410116" cy="2785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Disease entity has a many-to-many (M:N) </a:t>
            </a:r>
          </a:p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relationship with the Medicine entity because</a:t>
            </a:r>
          </a:p>
          <a:p>
            <a:pPr algn="l">
              <a:lnSpc>
                <a:spcPts val="4480"/>
              </a:lnSpc>
            </a:pPr>
            <a:endParaRPr lang="en-US" sz="3200" b="1" dirty="0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one medicine can be used to treat multiple diseases,</a:t>
            </a:r>
          </a:p>
          <a:p>
            <a:pPr algn="l">
              <a:lnSpc>
                <a:spcPts val="4480"/>
              </a:lnSpc>
            </a:pPr>
            <a:r>
              <a:rPr lang="en-US" sz="3200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and one disease can be treated using multiple medicines.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9614" y="186457"/>
            <a:ext cx="7408090" cy="5489548"/>
          </a:xfrm>
          <a:custGeom>
            <a:avLst/>
            <a:gdLst/>
            <a:ahLst/>
            <a:cxnLst/>
            <a:rect l="l" t="t" r="r" b="b"/>
            <a:pathLst>
              <a:path w="7408090" h="5489548">
                <a:moveTo>
                  <a:pt x="0" y="0"/>
                </a:moveTo>
                <a:lnTo>
                  <a:pt x="7408089" y="0"/>
                </a:lnTo>
                <a:lnTo>
                  <a:pt x="7408089" y="5489548"/>
                </a:lnTo>
                <a:lnTo>
                  <a:pt x="0" y="54895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5948190"/>
            <a:ext cx="7743482" cy="4058424"/>
          </a:xfrm>
          <a:custGeom>
            <a:avLst/>
            <a:gdLst/>
            <a:ahLst/>
            <a:cxnLst/>
            <a:rect l="l" t="t" r="r" b="b"/>
            <a:pathLst>
              <a:path w="7743482" h="4058424">
                <a:moveTo>
                  <a:pt x="0" y="0"/>
                </a:moveTo>
                <a:lnTo>
                  <a:pt x="7743482" y="0"/>
                </a:lnTo>
                <a:lnTo>
                  <a:pt x="7743482" y="4058424"/>
                </a:lnTo>
                <a:lnTo>
                  <a:pt x="0" y="4058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60" r="-644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411108" y="0"/>
            <a:ext cx="6987500" cy="5372798"/>
          </a:xfrm>
          <a:custGeom>
            <a:avLst/>
            <a:gdLst/>
            <a:ahLst/>
            <a:cxnLst/>
            <a:rect l="l" t="t" r="r" b="b"/>
            <a:pathLst>
              <a:path w="6987500" h="5372798">
                <a:moveTo>
                  <a:pt x="0" y="0"/>
                </a:moveTo>
                <a:lnTo>
                  <a:pt x="6987499" y="0"/>
                </a:lnTo>
                <a:lnTo>
                  <a:pt x="6987499" y="5372798"/>
                </a:lnTo>
                <a:lnTo>
                  <a:pt x="0" y="53727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266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411108" y="6656116"/>
            <a:ext cx="8686966" cy="3774337"/>
          </a:xfrm>
          <a:custGeom>
            <a:avLst/>
            <a:gdLst/>
            <a:ahLst/>
            <a:cxnLst/>
            <a:rect l="l" t="t" r="r" b="b"/>
            <a:pathLst>
              <a:path w="8686966" h="3774337">
                <a:moveTo>
                  <a:pt x="0" y="0"/>
                </a:moveTo>
                <a:lnTo>
                  <a:pt x="8686966" y="0"/>
                </a:lnTo>
                <a:lnTo>
                  <a:pt x="8686966" y="3774337"/>
                </a:lnTo>
                <a:lnTo>
                  <a:pt x="0" y="37743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43656" y="3448562"/>
            <a:ext cx="16040134" cy="5035604"/>
            <a:chOff x="0" y="0"/>
            <a:chExt cx="17580664" cy="55192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580656" cy="5519236"/>
            </a:xfrm>
            <a:custGeom>
              <a:avLst/>
              <a:gdLst/>
              <a:ahLst/>
              <a:cxnLst/>
              <a:rect l="l" t="t" r="r" b="b"/>
              <a:pathLst>
                <a:path w="17580656" h="5519236">
                  <a:moveTo>
                    <a:pt x="0" y="0"/>
                  </a:moveTo>
                  <a:lnTo>
                    <a:pt x="17580656" y="0"/>
                  </a:lnTo>
                  <a:lnTo>
                    <a:pt x="17580656" y="5519236"/>
                  </a:lnTo>
                  <a:lnTo>
                    <a:pt x="0" y="55192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67" r="39073" b="3563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17580664" cy="5519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600"/>
                </a:lnSpc>
              </a:pPr>
              <a:r>
                <a:rPr lang="en-US" sz="130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MEDICINE-DISEASE ENTITY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28409" y="416155"/>
            <a:ext cx="6111247" cy="4563083"/>
            <a:chOff x="-20329" y="-1204708"/>
            <a:chExt cx="8148329" cy="608411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0" cy="4879403"/>
            </a:xfrm>
            <a:custGeom>
              <a:avLst/>
              <a:gdLst/>
              <a:ahLst/>
              <a:cxnLst/>
              <a:rect l="l" t="t" r="r" b="b"/>
              <a:pathLst>
                <a:path w="8128000" h="4879403">
                  <a:moveTo>
                    <a:pt x="0" y="0"/>
                  </a:moveTo>
                  <a:lnTo>
                    <a:pt x="8128000" y="0"/>
                  </a:lnTo>
                  <a:lnTo>
                    <a:pt x="8128000" y="4879403"/>
                  </a:lnTo>
                  <a:lnTo>
                    <a:pt x="0" y="48794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60" r="-8860" b="2358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-20329" y="-1204708"/>
              <a:ext cx="8128000" cy="48889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8720"/>
                </a:lnSpc>
              </a:pPr>
              <a:r>
                <a:rPr lang="en-US" sz="156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03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401955" y="7659319"/>
            <a:ext cx="2245050" cy="2251052"/>
          </a:xfrm>
          <a:custGeom>
            <a:avLst/>
            <a:gdLst/>
            <a:ahLst/>
            <a:cxnLst/>
            <a:rect l="l" t="t" r="r" b="b"/>
            <a:pathLst>
              <a:path w="2245050" h="2251052">
                <a:moveTo>
                  <a:pt x="0" y="0"/>
                </a:moveTo>
                <a:lnTo>
                  <a:pt x="2245049" y="0"/>
                </a:lnTo>
                <a:lnTo>
                  <a:pt x="2245049" y="2251052"/>
                </a:lnTo>
                <a:lnTo>
                  <a:pt x="0" y="22510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768535" y="0"/>
            <a:ext cx="3754755" cy="4114800"/>
          </a:xfrm>
          <a:custGeom>
            <a:avLst/>
            <a:gdLst/>
            <a:ahLst/>
            <a:cxnLst/>
            <a:rect l="l" t="t" r="r" b="b"/>
            <a:pathLst>
              <a:path w="3754755" h="4114800">
                <a:moveTo>
                  <a:pt x="0" y="0"/>
                </a:moveTo>
                <a:lnTo>
                  <a:pt x="3754755" y="0"/>
                </a:lnTo>
                <a:lnTo>
                  <a:pt x="37547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8179" y="984761"/>
            <a:ext cx="14983873" cy="8100650"/>
          </a:xfrm>
          <a:custGeom>
            <a:avLst/>
            <a:gdLst/>
            <a:ahLst/>
            <a:cxnLst/>
            <a:rect l="l" t="t" r="r" b="b"/>
            <a:pathLst>
              <a:path w="14983873" h="8100650">
                <a:moveTo>
                  <a:pt x="0" y="0"/>
                </a:moveTo>
                <a:lnTo>
                  <a:pt x="14983872" y="0"/>
                </a:lnTo>
                <a:lnTo>
                  <a:pt x="14983872" y="8100651"/>
                </a:lnTo>
                <a:lnTo>
                  <a:pt x="0" y="81006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1"/>
            <a:ext cx="18178945" cy="10287000"/>
          </a:xfrm>
          <a:custGeom>
            <a:avLst/>
            <a:gdLst/>
            <a:ahLst/>
            <a:cxnLst/>
            <a:rect l="l" t="t" r="r" b="b"/>
            <a:pathLst>
              <a:path w="18069890" h="9769027">
                <a:moveTo>
                  <a:pt x="0" y="0"/>
                </a:moveTo>
                <a:lnTo>
                  <a:pt x="18069890" y="0"/>
                </a:lnTo>
                <a:lnTo>
                  <a:pt x="18069890" y="9769027"/>
                </a:lnTo>
                <a:lnTo>
                  <a:pt x="0" y="976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86463" y="5388197"/>
            <a:ext cx="7450209" cy="881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38"/>
              </a:lnSpc>
            </a:pPr>
            <a:r>
              <a:rPr lang="en-US" sz="50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Description: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107011" y="2297346"/>
            <a:ext cx="205777" cy="205777"/>
            <a:chOff x="0" y="0"/>
            <a:chExt cx="310401" cy="31040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2209900" y="5773070"/>
            <a:ext cx="205777" cy="205777"/>
            <a:chOff x="0" y="0"/>
            <a:chExt cx="310401" cy="310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2851348" y="1896967"/>
            <a:ext cx="7646777" cy="90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27"/>
              </a:lnSpc>
            </a:pPr>
            <a:r>
              <a:rPr lang="en-US" sz="5233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CONCEPTUAL DESIGN: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49608" y="3040258"/>
            <a:ext cx="7050258" cy="5433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17"/>
              </a:lnSpc>
            </a:pPr>
            <a:r>
              <a:rPr lang="en-US" sz="315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Entity Name: Medicine_Disease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332465" y="6560099"/>
            <a:ext cx="8684543" cy="26982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29"/>
              </a:lnSpc>
            </a:pPr>
            <a:r>
              <a:rPr lang="en-US" sz="309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</a:t>
            </a:r>
            <a:r>
              <a:rPr lang="en-US" sz="3092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Medicine_Disease</a:t>
            </a:r>
            <a:r>
              <a:rPr lang="en-US" sz="3092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entity is a junction table used to represent the many-to-many (M:N) relationship between Medicine and Disease entities. It stores which medicines are used to treat which diseases in the system.</a:t>
            </a:r>
          </a:p>
        </p:txBody>
      </p:sp>
      <p:sp>
        <p:nvSpPr>
          <p:cNvPr id="12" name="Freeform 12"/>
          <p:cNvSpPr/>
          <p:nvPr/>
        </p:nvSpPr>
        <p:spPr>
          <a:xfrm>
            <a:off x="12154038" y="2400235"/>
            <a:ext cx="4599730" cy="3475724"/>
          </a:xfrm>
          <a:custGeom>
            <a:avLst/>
            <a:gdLst/>
            <a:ahLst/>
            <a:cxnLst/>
            <a:rect l="l" t="t" r="r" b="b"/>
            <a:pathLst>
              <a:path w="4599730" h="3475724">
                <a:moveTo>
                  <a:pt x="0" y="0"/>
                </a:moveTo>
                <a:lnTo>
                  <a:pt x="4599730" y="0"/>
                </a:lnTo>
                <a:lnTo>
                  <a:pt x="4599730" y="3475724"/>
                </a:lnTo>
                <a:lnTo>
                  <a:pt x="0" y="34757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0201" y="-1125129"/>
            <a:ext cx="10786161" cy="3431748"/>
            <a:chOff x="0" y="0"/>
            <a:chExt cx="16736121" cy="5324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736127" cy="5324795"/>
            </a:xfrm>
            <a:custGeom>
              <a:avLst/>
              <a:gdLst/>
              <a:ahLst/>
              <a:cxnLst/>
              <a:rect l="l" t="t" r="r" b="b"/>
              <a:pathLst>
                <a:path w="16736127" h="5324795">
                  <a:moveTo>
                    <a:pt x="0" y="0"/>
                  </a:moveTo>
                  <a:lnTo>
                    <a:pt x="16736127" y="0"/>
                  </a:lnTo>
                  <a:lnTo>
                    <a:pt x="16736127" y="5324795"/>
                  </a:lnTo>
                  <a:lnTo>
                    <a:pt x="0" y="53247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82" r="27740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16736121" cy="533432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l">
                <a:lnSpc>
                  <a:spcPts val="12000"/>
                </a:lnSpc>
              </a:pPr>
              <a:r>
                <a:rPr lang="en-US" sz="100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ATTRIBUTES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4963959" y="1218153"/>
            <a:ext cx="1232089" cy="1224819"/>
          </a:xfrm>
          <a:custGeom>
            <a:avLst/>
            <a:gdLst/>
            <a:ahLst/>
            <a:cxnLst/>
            <a:rect l="l" t="t" r="r" b="b"/>
            <a:pathLst>
              <a:path w="1232089" h="1224819">
                <a:moveTo>
                  <a:pt x="0" y="0"/>
                </a:moveTo>
                <a:lnTo>
                  <a:pt x="1232088" y="0"/>
                </a:lnTo>
                <a:lnTo>
                  <a:pt x="1232088" y="1224819"/>
                </a:lnTo>
                <a:lnTo>
                  <a:pt x="0" y="12248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64545" y="1273690"/>
            <a:ext cx="769314" cy="761507"/>
          </a:xfrm>
          <a:custGeom>
            <a:avLst/>
            <a:gdLst/>
            <a:ahLst/>
            <a:cxnLst/>
            <a:rect l="l" t="t" r="r" b="b"/>
            <a:pathLst>
              <a:path w="769314" h="761507">
                <a:moveTo>
                  <a:pt x="0" y="0"/>
                </a:moveTo>
                <a:lnTo>
                  <a:pt x="769314" y="0"/>
                </a:lnTo>
                <a:lnTo>
                  <a:pt x="769314" y="761507"/>
                </a:lnTo>
                <a:lnTo>
                  <a:pt x="0" y="7615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38257" y="4651127"/>
            <a:ext cx="305808" cy="305808"/>
          </a:xfrm>
          <a:custGeom>
            <a:avLst/>
            <a:gdLst/>
            <a:ahLst/>
            <a:cxnLst/>
            <a:rect l="l" t="t" r="r" b="b"/>
            <a:pathLst>
              <a:path w="305808" h="305808">
                <a:moveTo>
                  <a:pt x="0" y="0"/>
                </a:moveTo>
                <a:lnTo>
                  <a:pt x="305808" y="0"/>
                </a:lnTo>
                <a:lnTo>
                  <a:pt x="305808" y="305808"/>
                </a:lnTo>
                <a:lnTo>
                  <a:pt x="0" y="3058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4204573" y="5090259"/>
            <a:ext cx="421382" cy="360838"/>
          </a:xfrm>
          <a:custGeom>
            <a:avLst/>
            <a:gdLst/>
            <a:ahLst/>
            <a:cxnLst/>
            <a:rect l="l" t="t" r="r" b="b"/>
            <a:pathLst>
              <a:path w="421382" h="360838">
                <a:moveTo>
                  <a:pt x="0" y="0"/>
                </a:moveTo>
                <a:lnTo>
                  <a:pt x="421382" y="0"/>
                </a:lnTo>
                <a:lnTo>
                  <a:pt x="421382" y="360838"/>
                </a:lnTo>
                <a:lnTo>
                  <a:pt x="0" y="360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2700000">
            <a:off x="1743694" y="5655322"/>
            <a:ext cx="385451" cy="385672"/>
            <a:chOff x="0" y="0"/>
            <a:chExt cx="554901" cy="555219"/>
          </a:xfrm>
        </p:grpSpPr>
        <p:sp>
          <p:nvSpPr>
            <p:cNvPr id="10" name="Freeform 10"/>
            <p:cNvSpPr/>
            <p:nvPr/>
          </p:nvSpPr>
          <p:spPr>
            <a:xfrm>
              <a:off x="0" y="254"/>
              <a:ext cx="554863" cy="554609"/>
            </a:xfrm>
            <a:custGeom>
              <a:avLst/>
              <a:gdLst/>
              <a:ahLst/>
              <a:cxnLst/>
              <a:rect l="l" t="t" r="r" b="b"/>
              <a:pathLst>
                <a:path w="554863" h="554609">
                  <a:moveTo>
                    <a:pt x="213614" y="0"/>
                  </a:moveTo>
                  <a:lnTo>
                    <a:pt x="213614" y="209296"/>
                  </a:lnTo>
                  <a:lnTo>
                    <a:pt x="0" y="209296"/>
                  </a:lnTo>
                  <a:lnTo>
                    <a:pt x="0" y="340995"/>
                  </a:lnTo>
                  <a:lnTo>
                    <a:pt x="213614" y="340995"/>
                  </a:lnTo>
                  <a:lnTo>
                    <a:pt x="213614" y="554609"/>
                  </a:lnTo>
                  <a:lnTo>
                    <a:pt x="345694" y="554609"/>
                  </a:lnTo>
                  <a:lnTo>
                    <a:pt x="345694" y="340995"/>
                  </a:lnTo>
                  <a:lnTo>
                    <a:pt x="554863" y="340995"/>
                  </a:lnTo>
                  <a:lnTo>
                    <a:pt x="554863" y="209296"/>
                  </a:lnTo>
                  <a:lnTo>
                    <a:pt x="345694" y="209296"/>
                  </a:lnTo>
                  <a:lnTo>
                    <a:pt x="345694" y="0"/>
                  </a:lnTo>
                  <a:close/>
                </a:path>
              </a:pathLst>
            </a:custGeom>
            <a:solidFill>
              <a:srgbClr val="C3D9FB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540612" y="2065236"/>
            <a:ext cx="4857065" cy="7565845"/>
          </a:xfrm>
          <a:custGeom>
            <a:avLst/>
            <a:gdLst/>
            <a:ahLst/>
            <a:cxnLst/>
            <a:rect l="l" t="t" r="r" b="b"/>
            <a:pathLst>
              <a:path w="4857065" h="7565845">
                <a:moveTo>
                  <a:pt x="0" y="0"/>
                </a:moveTo>
                <a:lnTo>
                  <a:pt x="4857066" y="0"/>
                </a:lnTo>
                <a:lnTo>
                  <a:pt x="4857066" y="7565844"/>
                </a:lnTo>
                <a:lnTo>
                  <a:pt x="0" y="75658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193281" y="6701975"/>
            <a:ext cx="4667020" cy="2885067"/>
          </a:xfrm>
          <a:custGeom>
            <a:avLst/>
            <a:gdLst/>
            <a:ahLst/>
            <a:cxnLst/>
            <a:rect l="l" t="t" r="r" b="b"/>
            <a:pathLst>
              <a:path w="4667020" h="2885067">
                <a:moveTo>
                  <a:pt x="0" y="0"/>
                </a:moveTo>
                <a:lnTo>
                  <a:pt x="4667021" y="0"/>
                </a:lnTo>
                <a:lnTo>
                  <a:pt x="4667021" y="2885067"/>
                </a:lnTo>
                <a:lnTo>
                  <a:pt x="0" y="28850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475389" y="7421406"/>
            <a:ext cx="4102805" cy="1693340"/>
          </a:xfrm>
          <a:custGeom>
            <a:avLst/>
            <a:gdLst/>
            <a:ahLst/>
            <a:cxnLst/>
            <a:rect l="l" t="t" r="r" b="b"/>
            <a:pathLst>
              <a:path w="4102805" h="1693340">
                <a:moveTo>
                  <a:pt x="0" y="0"/>
                </a:moveTo>
                <a:lnTo>
                  <a:pt x="4102805" y="0"/>
                </a:lnTo>
                <a:lnTo>
                  <a:pt x="4102805" y="1693339"/>
                </a:lnTo>
                <a:lnTo>
                  <a:pt x="0" y="16933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4455649" y="7954144"/>
            <a:ext cx="8142285" cy="62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1"/>
              </a:lnSpc>
            </a:pPr>
            <a:r>
              <a:rPr lang="en-US" sz="364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Medicine_Disease</a:t>
            </a:r>
          </a:p>
        </p:txBody>
      </p:sp>
      <p:sp>
        <p:nvSpPr>
          <p:cNvPr id="15" name="Freeform 15"/>
          <p:cNvSpPr/>
          <p:nvPr/>
        </p:nvSpPr>
        <p:spPr>
          <a:xfrm>
            <a:off x="2249919" y="2306619"/>
            <a:ext cx="5497785" cy="3418622"/>
          </a:xfrm>
          <a:custGeom>
            <a:avLst/>
            <a:gdLst/>
            <a:ahLst/>
            <a:cxnLst/>
            <a:rect l="l" t="t" r="r" b="b"/>
            <a:pathLst>
              <a:path w="5497785" h="3418622">
                <a:moveTo>
                  <a:pt x="0" y="0"/>
                </a:moveTo>
                <a:lnTo>
                  <a:pt x="5497785" y="0"/>
                </a:lnTo>
                <a:lnTo>
                  <a:pt x="5497785" y="3418623"/>
                </a:lnTo>
                <a:lnTo>
                  <a:pt x="0" y="341862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5400000">
            <a:off x="3456265" y="2029316"/>
            <a:ext cx="3085093" cy="4059333"/>
          </a:xfrm>
          <a:custGeom>
            <a:avLst/>
            <a:gdLst/>
            <a:ahLst/>
            <a:cxnLst/>
            <a:rect l="l" t="t" r="r" b="b"/>
            <a:pathLst>
              <a:path w="3085093" h="4059333">
                <a:moveTo>
                  <a:pt x="0" y="0"/>
                </a:moveTo>
                <a:lnTo>
                  <a:pt x="3085093" y="0"/>
                </a:lnTo>
                <a:lnTo>
                  <a:pt x="3085093" y="4059333"/>
                </a:lnTo>
                <a:lnTo>
                  <a:pt x="0" y="405933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096150" y="3613790"/>
            <a:ext cx="5651554" cy="664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0"/>
              </a:lnSpc>
            </a:pPr>
            <a:r>
              <a:rPr lang="en-US" sz="4492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medicine_id</a:t>
            </a:r>
          </a:p>
        </p:txBody>
      </p:sp>
      <p:sp>
        <p:nvSpPr>
          <p:cNvPr id="18" name="Freeform 18"/>
          <p:cNvSpPr/>
          <p:nvPr/>
        </p:nvSpPr>
        <p:spPr>
          <a:xfrm>
            <a:off x="9692695" y="2323761"/>
            <a:ext cx="5271264" cy="3277768"/>
          </a:xfrm>
          <a:custGeom>
            <a:avLst/>
            <a:gdLst/>
            <a:ahLst/>
            <a:cxnLst/>
            <a:rect l="l" t="t" r="r" b="b"/>
            <a:pathLst>
              <a:path w="5271264" h="3277768">
                <a:moveTo>
                  <a:pt x="0" y="0"/>
                </a:moveTo>
                <a:lnTo>
                  <a:pt x="5271264" y="0"/>
                </a:lnTo>
                <a:lnTo>
                  <a:pt x="5271264" y="3277768"/>
                </a:lnTo>
                <a:lnTo>
                  <a:pt x="0" y="327776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5400000">
            <a:off x="11020104" y="2022749"/>
            <a:ext cx="2932184" cy="3858137"/>
          </a:xfrm>
          <a:custGeom>
            <a:avLst/>
            <a:gdLst/>
            <a:ahLst/>
            <a:cxnLst/>
            <a:rect l="l" t="t" r="r" b="b"/>
            <a:pathLst>
              <a:path w="2932184" h="3858137">
                <a:moveTo>
                  <a:pt x="0" y="0"/>
                </a:moveTo>
                <a:lnTo>
                  <a:pt x="2932184" y="0"/>
                </a:lnTo>
                <a:lnTo>
                  <a:pt x="2932184" y="3858137"/>
                </a:lnTo>
                <a:lnTo>
                  <a:pt x="0" y="3858137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516824" y="3597895"/>
            <a:ext cx="5938743" cy="70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64"/>
              </a:lnSpc>
            </a:pPr>
            <a:r>
              <a:rPr lang="en-US" sz="4720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disease_id</a:t>
            </a:r>
          </a:p>
        </p:txBody>
      </p:sp>
      <p:sp>
        <p:nvSpPr>
          <p:cNvPr id="21" name="AutoShape 21"/>
          <p:cNvSpPr/>
          <p:nvPr/>
        </p:nvSpPr>
        <p:spPr>
          <a:xfrm flipV="1">
            <a:off x="9057555" y="5601529"/>
            <a:ext cx="3270771" cy="1100446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AutoShape 22"/>
          <p:cNvSpPr/>
          <p:nvPr/>
        </p:nvSpPr>
        <p:spPr>
          <a:xfrm flipH="1" flipV="1">
            <a:off x="6016312" y="5725242"/>
            <a:ext cx="2041104" cy="976733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44350" y="2977723"/>
            <a:ext cx="4495088" cy="2795128"/>
          </a:xfrm>
          <a:custGeom>
            <a:avLst/>
            <a:gdLst/>
            <a:ahLst/>
            <a:cxnLst/>
            <a:rect l="l" t="t" r="r" b="b"/>
            <a:pathLst>
              <a:path w="4495088" h="2795128">
                <a:moveTo>
                  <a:pt x="0" y="0"/>
                </a:moveTo>
                <a:lnTo>
                  <a:pt x="4495089" y="0"/>
                </a:lnTo>
                <a:lnTo>
                  <a:pt x="4495089" y="2795128"/>
                </a:lnTo>
                <a:lnTo>
                  <a:pt x="0" y="279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5400000">
            <a:off x="1471743" y="2942033"/>
            <a:ext cx="2238898" cy="2945919"/>
          </a:xfrm>
          <a:custGeom>
            <a:avLst/>
            <a:gdLst/>
            <a:ahLst/>
            <a:cxnLst/>
            <a:rect l="l" t="t" r="r" b="b"/>
            <a:pathLst>
              <a:path w="2238898" h="2945919">
                <a:moveTo>
                  <a:pt x="0" y="0"/>
                </a:moveTo>
                <a:lnTo>
                  <a:pt x="2238898" y="0"/>
                </a:lnTo>
                <a:lnTo>
                  <a:pt x="2238898" y="2945918"/>
                </a:lnTo>
                <a:lnTo>
                  <a:pt x="0" y="29459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flipH="1" flipV="1">
            <a:off x="2930249" y="5772851"/>
            <a:ext cx="1133902" cy="12396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" name="Group 6"/>
          <p:cNvGrpSpPr/>
          <p:nvPr/>
        </p:nvGrpSpPr>
        <p:grpSpPr>
          <a:xfrm>
            <a:off x="10123997" y="8229939"/>
            <a:ext cx="232801" cy="232801"/>
            <a:chOff x="0" y="0"/>
            <a:chExt cx="310401" cy="3104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9312314" y="964875"/>
            <a:ext cx="1623365" cy="1514157"/>
          </a:xfrm>
          <a:custGeom>
            <a:avLst/>
            <a:gdLst/>
            <a:ahLst/>
            <a:cxnLst/>
            <a:rect l="l" t="t" r="r" b="b"/>
            <a:pathLst>
              <a:path w="1623365" h="1514157">
                <a:moveTo>
                  <a:pt x="0" y="0"/>
                </a:moveTo>
                <a:lnTo>
                  <a:pt x="1623365" y="0"/>
                </a:lnTo>
                <a:lnTo>
                  <a:pt x="1623365" y="1514156"/>
                </a:lnTo>
                <a:lnTo>
                  <a:pt x="0" y="15141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66749">
            <a:off x="5718598" y="3021097"/>
            <a:ext cx="4495088" cy="2795128"/>
          </a:xfrm>
          <a:custGeom>
            <a:avLst/>
            <a:gdLst/>
            <a:ahLst/>
            <a:cxnLst/>
            <a:rect l="l" t="t" r="r" b="b"/>
            <a:pathLst>
              <a:path w="4495088" h="2795128">
                <a:moveTo>
                  <a:pt x="0" y="0"/>
                </a:moveTo>
                <a:lnTo>
                  <a:pt x="4495088" y="0"/>
                </a:lnTo>
                <a:lnTo>
                  <a:pt x="4495088" y="2795128"/>
                </a:lnTo>
                <a:lnTo>
                  <a:pt x="0" y="27951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248888">
            <a:off x="6845991" y="3001315"/>
            <a:ext cx="2238898" cy="2945919"/>
          </a:xfrm>
          <a:custGeom>
            <a:avLst/>
            <a:gdLst/>
            <a:ahLst/>
            <a:cxnLst/>
            <a:rect l="l" t="t" r="r" b="b"/>
            <a:pathLst>
              <a:path w="2238898" h="2945919">
                <a:moveTo>
                  <a:pt x="0" y="0"/>
                </a:moveTo>
                <a:lnTo>
                  <a:pt x="2238898" y="0"/>
                </a:lnTo>
                <a:lnTo>
                  <a:pt x="2238898" y="2945919"/>
                </a:lnTo>
                <a:lnTo>
                  <a:pt x="0" y="294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6444712" y="5823051"/>
            <a:ext cx="1183477" cy="1189475"/>
          </a:xfrm>
          <a:prstGeom prst="line">
            <a:avLst/>
          </a:prstGeom>
          <a:ln w="4762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2" name="TextBox 12"/>
          <p:cNvSpPr txBox="1"/>
          <p:nvPr/>
        </p:nvSpPr>
        <p:spPr>
          <a:xfrm>
            <a:off x="621765" y="1028382"/>
            <a:ext cx="8522206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PRIMARY KEY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97887" y="4052710"/>
            <a:ext cx="4386610" cy="104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3"/>
              </a:lnSpc>
            </a:pPr>
            <a:r>
              <a:rPr lang="en-US" sz="3486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medicine_id</a:t>
            </a:r>
          </a:p>
          <a:p>
            <a:pPr algn="ctr">
              <a:lnSpc>
                <a:spcPts val="4183"/>
              </a:lnSpc>
            </a:pPr>
            <a:endParaRPr lang="en-US" sz="3486" u="sng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56798" y="7837888"/>
            <a:ext cx="7564485" cy="1828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4"/>
              </a:lnSpc>
            </a:pPr>
            <a:r>
              <a:rPr lang="en-US" sz="260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MEDICINE_DISEASE table by combining both medicine_id and disease_id, ensuring that the same medicine–disease relationship cannot be duplicated.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1635" y="7076947"/>
            <a:ext cx="9428762" cy="1176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composite primary key is used to uniquely identify each record in the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72135" y="4056379"/>
            <a:ext cx="4386610" cy="1043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83"/>
              </a:lnSpc>
            </a:pPr>
            <a:r>
              <a:rPr lang="en-US" sz="3486" u="sng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disease_id</a:t>
            </a:r>
          </a:p>
          <a:p>
            <a:pPr algn="ctr">
              <a:lnSpc>
                <a:spcPts val="4183"/>
              </a:lnSpc>
            </a:pPr>
            <a:endParaRPr lang="en-US" sz="3486" u="sng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3108235" y="4518679"/>
            <a:ext cx="59911" cy="1794653"/>
          </a:xfrm>
          <a:prstGeom prst="line">
            <a:avLst/>
          </a:prstGeom>
          <a:ln w="28575" cap="rnd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3108235" y="6625650"/>
            <a:ext cx="59911" cy="1794653"/>
          </a:xfrm>
          <a:prstGeom prst="line">
            <a:avLst/>
          </a:prstGeom>
          <a:ln w="28575" cap="rnd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585267" y="5785307"/>
            <a:ext cx="5106161" cy="1558118"/>
            <a:chOff x="0" y="0"/>
            <a:chExt cx="4330395" cy="13213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30446" cy="1321435"/>
            </a:xfrm>
            <a:custGeom>
              <a:avLst/>
              <a:gdLst/>
              <a:ahLst/>
              <a:cxnLst/>
              <a:rect l="l" t="t" r="r" b="b"/>
              <a:pathLst>
                <a:path w="4330446" h="1321435">
                  <a:moveTo>
                    <a:pt x="0" y="0"/>
                  </a:moveTo>
                  <a:lnTo>
                    <a:pt x="4330446" y="0"/>
                  </a:lnTo>
                  <a:lnTo>
                    <a:pt x="4330446" y="1057148"/>
                  </a:lnTo>
                  <a:lnTo>
                    <a:pt x="2165223" y="1321435"/>
                  </a:lnTo>
                  <a:lnTo>
                    <a:pt x="0" y="1057148"/>
                  </a:lnTo>
                  <a:close/>
                </a:path>
              </a:pathLst>
            </a:custGeom>
            <a:solidFill>
              <a:srgbClr val="4869B1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85267" y="7937743"/>
            <a:ext cx="5106161" cy="1558118"/>
            <a:chOff x="0" y="0"/>
            <a:chExt cx="4330395" cy="13213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330446" cy="1321435"/>
            </a:xfrm>
            <a:custGeom>
              <a:avLst/>
              <a:gdLst/>
              <a:ahLst/>
              <a:cxnLst/>
              <a:rect l="l" t="t" r="r" b="b"/>
              <a:pathLst>
                <a:path w="4330446" h="1321435">
                  <a:moveTo>
                    <a:pt x="0" y="0"/>
                  </a:moveTo>
                  <a:lnTo>
                    <a:pt x="4330446" y="0"/>
                  </a:lnTo>
                  <a:lnTo>
                    <a:pt x="4330446" y="1057148"/>
                  </a:lnTo>
                  <a:lnTo>
                    <a:pt x="2165223" y="1321435"/>
                  </a:lnTo>
                  <a:lnTo>
                    <a:pt x="0" y="1057148"/>
                  </a:lnTo>
                  <a:close/>
                </a:path>
              </a:pathLst>
            </a:custGeom>
            <a:solidFill>
              <a:srgbClr val="7EACEC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585267" y="3632872"/>
            <a:ext cx="5106161" cy="1558118"/>
            <a:chOff x="0" y="0"/>
            <a:chExt cx="4330395" cy="132139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330446" cy="1321435"/>
            </a:xfrm>
            <a:custGeom>
              <a:avLst/>
              <a:gdLst/>
              <a:ahLst/>
              <a:cxnLst/>
              <a:rect l="l" t="t" r="r" b="b"/>
              <a:pathLst>
                <a:path w="4330446" h="1321435">
                  <a:moveTo>
                    <a:pt x="0" y="0"/>
                  </a:moveTo>
                  <a:lnTo>
                    <a:pt x="4330446" y="0"/>
                  </a:lnTo>
                  <a:lnTo>
                    <a:pt x="4330446" y="1057148"/>
                  </a:lnTo>
                  <a:lnTo>
                    <a:pt x="2165223" y="1321435"/>
                  </a:lnTo>
                  <a:lnTo>
                    <a:pt x="0" y="1057148"/>
                  </a:ln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847097" y="3548812"/>
            <a:ext cx="5400147" cy="1489307"/>
            <a:chOff x="0" y="0"/>
            <a:chExt cx="4586096" cy="1264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586103" cy="1264794"/>
            </a:xfrm>
            <a:custGeom>
              <a:avLst/>
              <a:gdLst/>
              <a:ahLst/>
              <a:cxnLst/>
              <a:rect l="l" t="t" r="r" b="b"/>
              <a:pathLst>
                <a:path w="4586103" h="1264794">
                  <a:moveTo>
                    <a:pt x="0" y="0"/>
                  </a:moveTo>
                  <a:lnTo>
                    <a:pt x="4586103" y="0"/>
                  </a:lnTo>
                  <a:lnTo>
                    <a:pt x="4586103" y="1264794"/>
                  </a:lnTo>
                  <a:lnTo>
                    <a:pt x="0" y="12647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8489" r="-25247" b="-38490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4586096" cy="12648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>
                <a:lnSpc>
                  <a:spcPts val="3839"/>
                </a:lnSpc>
              </a:pPr>
              <a:r>
                <a:rPr lang="en-US" sz="3199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(medicine_id, disease_id)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108192" y="5585910"/>
            <a:ext cx="10143397" cy="1619815"/>
            <a:chOff x="0" y="0"/>
            <a:chExt cx="8602337" cy="137372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602343" cy="1373715"/>
            </a:xfrm>
            <a:custGeom>
              <a:avLst/>
              <a:gdLst/>
              <a:ahLst/>
              <a:cxnLst/>
              <a:rect l="l" t="t" r="r" b="b"/>
              <a:pathLst>
                <a:path w="8602343" h="1373715">
                  <a:moveTo>
                    <a:pt x="0" y="0"/>
                  </a:moveTo>
                  <a:lnTo>
                    <a:pt x="8602343" y="0"/>
                  </a:lnTo>
                  <a:lnTo>
                    <a:pt x="8602343" y="1373715"/>
                  </a:lnTo>
                  <a:lnTo>
                    <a:pt x="0" y="137371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35437" r="33227" b="-27509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8602337" cy="13737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medicine_id → Medicine(medicine_id)</a:t>
              </a:r>
            </a:p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disease_id → Disease(disease_id)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08192" y="7674612"/>
            <a:ext cx="7611605" cy="1491382"/>
            <a:chOff x="0" y="0"/>
            <a:chExt cx="6455194" cy="1264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55200" cy="1264794"/>
            </a:xfrm>
            <a:custGeom>
              <a:avLst/>
              <a:gdLst/>
              <a:ahLst/>
              <a:cxnLst/>
              <a:rect l="l" t="t" r="r" b="b"/>
              <a:pathLst>
                <a:path w="6455200" h="1264794">
                  <a:moveTo>
                    <a:pt x="0" y="0"/>
                  </a:moveTo>
                  <a:lnTo>
                    <a:pt x="6455200" y="0"/>
                  </a:lnTo>
                  <a:lnTo>
                    <a:pt x="6455200" y="1264794"/>
                  </a:lnTo>
                  <a:lnTo>
                    <a:pt x="0" y="126479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9446" b="-4944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6455194" cy="12743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719"/>
                </a:lnSpc>
              </a:pPr>
              <a:r>
                <a:rPr lang="en-US" sz="3099">
                  <a:solidFill>
                    <a:srgbClr val="434343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medicine_id, disease_id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837591" y="6112820"/>
            <a:ext cx="2661111" cy="884132"/>
            <a:chOff x="0" y="0"/>
            <a:chExt cx="2256815" cy="74980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256821" cy="749806"/>
            </a:xfrm>
            <a:custGeom>
              <a:avLst/>
              <a:gdLst/>
              <a:ahLst/>
              <a:cxnLst/>
              <a:rect l="l" t="t" r="r" b="b"/>
              <a:pathLst>
                <a:path w="2256821" h="749806">
                  <a:moveTo>
                    <a:pt x="0" y="0"/>
                  </a:moveTo>
                  <a:lnTo>
                    <a:pt x="2256821" y="0"/>
                  </a:lnTo>
                  <a:lnTo>
                    <a:pt x="2256821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20915" b="11687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2256815" cy="8069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39"/>
                </a:lnSpc>
              </a:pPr>
              <a:r>
                <a:rPr lang="en-US" sz="2999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FOREIGN KEY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9195" y="8086375"/>
            <a:ext cx="5357901" cy="884132"/>
            <a:chOff x="0" y="0"/>
            <a:chExt cx="4543890" cy="74980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543895" cy="749806"/>
            </a:xfrm>
            <a:custGeom>
              <a:avLst/>
              <a:gdLst/>
              <a:ahLst/>
              <a:cxnLst/>
              <a:rect l="l" t="t" r="r" b="b"/>
              <a:pathLst>
                <a:path w="4543895" h="749806">
                  <a:moveTo>
                    <a:pt x="0" y="0"/>
                  </a:moveTo>
                  <a:lnTo>
                    <a:pt x="4543895" y="0"/>
                  </a:lnTo>
                  <a:lnTo>
                    <a:pt x="4543895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60721" b="11687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4543890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53"/>
                </a:lnSpc>
              </a:pPr>
              <a:r>
                <a:rPr lang="en-US" sz="3299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NOT NULL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589256" y="3920252"/>
            <a:ext cx="3157780" cy="884132"/>
            <a:chOff x="0" y="0"/>
            <a:chExt cx="2678027" cy="74980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678032" cy="749806"/>
            </a:xfrm>
            <a:custGeom>
              <a:avLst/>
              <a:gdLst/>
              <a:ahLst/>
              <a:cxnLst/>
              <a:rect l="l" t="t" r="r" b="b"/>
              <a:pathLst>
                <a:path w="2678032" h="749806">
                  <a:moveTo>
                    <a:pt x="0" y="0"/>
                  </a:moveTo>
                  <a:lnTo>
                    <a:pt x="2678032" y="0"/>
                  </a:lnTo>
                  <a:lnTo>
                    <a:pt x="2678032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33354" b="1168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2678027" cy="8069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39"/>
                </a:lnSpc>
              </a:pPr>
              <a:r>
                <a:rPr lang="en-US" sz="2999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sp>
        <p:nvSpPr>
          <p:cNvPr id="31" name="Freeform 31"/>
          <p:cNvSpPr/>
          <p:nvPr/>
        </p:nvSpPr>
        <p:spPr>
          <a:xfrm rot="-2777701">
            <a:off x="9317474" y="1125527"/>
            <a:ext cx="1651985" cy="1474772"/>
          </a:xfrm>
          <a:custGeom>
            <a:avLst/>
            <a:gdLst/>
            <a:ahLst/>
            <a:cxnLst/>
            <a:rect l="l" t="t" r="r" b="b"/>
            <a:pathLst>
              <a:path w="1651985" h="1474772">
                <a:moveTo>
                  <a:pt x="0" y="0"/>
                </a:moveTo>
                <a:lnTo>
                  <a:pt x="1651985" y="0"/>
                </a:lnTo>
                <a:lnTo>
                  <a:pt x="1651985" y="1474772"/>
                </a:lnTo>
                <a:lnTo>
                  <a:pt x="0" y="14747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493211" y="1437462"/>
            <a:ext cx="8650760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CONSTRAINTS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9794" y="2237288"/>
            <a:ext cx="5528437" cy="4402605"/>
          </a:xfrm>
          <a:custGeom>
            <a:avLst/>
            <a:gdLst/>
            <a:ahLst/>
            <a:cxnLst/>
            <a:rect l="l" t="t" r="r" b="b"/>
            <a:pathLst>
              <a:path w="5528437" h="4402605">
                <a:moveTo>
                  <a:pt x="0" y="0"/>
                </a:moveTo>
                <a:lnTo>
                  <a:pt x="5528437" y="0"/>
                </a:lnTo>
                <a:lnTo>
                  <a:pt x="5528437" y="4402605"/>
                </a:lnTo>
                <a:lnTo>
                  <a:pt x="0" y="44026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25272" y="2720670"/>
            <a:ext cx="5486632" cy="4369313"/>
          </a:xfrm>
          <a:custGeom>
            <a:avLst/>
            <a:gdLst/>
            <a:ahLst/>
            <a:cxnLst/>
            <a:rect l="l" t="t" r="r" b="b"/>
            <a:pathLst>
              <a:path w="5486632" h="4369313">
                <a:moveTo>
                  <a:pt x="0" y="0"/>
                </a:moveTo>
                <a:lnTo>
                  <a:pt x="5486632" y="0"/>
                </a:lnTo>
                <a:lnTo>
                  <a:pt x="5486632" y="4369313"/>
                </a:lnTo>
                <a:lnTo>
                  <a:pt x="0" y="4369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375767" y="3083550"/>
            <a:ext cx="190706" cy="202998"/>
            <a:chOff x="0" y="0"/>
            <a:chExt cx="389331" cy="414426"/>
          </a:xfrm>
        </p:grpSpPr>
        <p:sp>
          <p:nvSpPr>
            <p:cNvPr id="5" name="Freeform 5"/>
            <p:cNvSpPr/>
            <p:nvPr/>
          </p:nvSpPr>
          <p:spPr>
            <a:xfrm>
              <a:off x="55275" y="508"/>
              <a:ext cx="333600" cy="413893"/>
            </a:xfrm>
            <a:custGeom>
              <a:avLst/>
              <a:gdLst/>
              <a:ahLst/>
              <a:cxnLst/>
              <a:rect l="l" t="t" r="r" b="b"/>
              <a:pathLst>
                <a:path w="333600" h="413893">
                  <a:moveTo>
                    <a:pt x="167991" y="0"/>
                  </a:moveTo>
                  <a:cubicBezTo>
                    <a:pt x="19274" y="0"/>
                    <a:pt x="-55275" y="222631"/>
                    <a:pt x="47722" y="351917"/>
                  </a:cubicBezTo>
                  <a:cubicBezTo>
                    <a:pt x="81631" y="394589"/>
                    <a:pt x="123414" y="413893"/>
                    <a:pt x="164816" y="413893"/>
                  </a:cubicBezTo>
                  <a:cubicBezTo>
                    <a:pt x="248890" y="413893"/>
                    <a:pt x="329662" y="333629"/>
                    <a:pt x="333599" y="208153"/>
                  </a:cubicBezTo>
                  <a:cubicBezTo>
                    <a:pt x="333726" y="93218"/>
                    <a:pt x="259558" y="0"/>
                    <a:pt x="1679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697869" y="3083550"/>
            <a:ext cx="190706" cy="202998"/>
            <a:chOff x="0" y="0"/>
            <a:chExt cx="389331" cy="414426"/>
          </a:xfrm>
        </p:grpSpPr>
        <p:sp>
          <p:nvSpPr>
            <p:cNvPr id="7" name="Freeform 7"/>
            <p:cNvSpPr/>
            <p:nvPr/>
          </p:nvSpPr>
          <p:spPr>
            <a:xfrm>
              <a:off x="55275" y="508"/>
              <a:ext cx="333600" cy="413893"/>
            </a:xfrm>
            <a:custGeom>
              <a:avLst/>
              <a:gdLst/>
              <a:ahLst/>
              <a:cxnLst/>
              <a:rect l="l" t="t" r="r" b="b"/>
              <a:pathLst>
                <a:path w="333600" h="413893">
                  <a:moveTo>
                    <a:pt x="167991" y="0"/>
                  </a:moveTo>
                  <a:cubicBezTo>
                    <a:pt x="19274" y="0"/>
                    <a:pt x="-55275" y="222631"/>
                    <a:pt x="47722" y="351917"/>
                  </a:cubicBezTo>
                  <a:cubicBezTo>
                    <a:pt x="83663" y="394589"/>
                    <a:pt x="126589" y="413893"/>
                    <a:pt x="168372" y="413893"/>
                  </a:cubicBezTo>
                  <a:cubicBezTo>
                    <a:pt x="253970" y="413893"/>
                    <a:pt x="333599" y="333629"/>
                    <a:pt x="333599" y="208153"/>
                  </a:cubicBezTo>
                  <a:cubicBezTo>
                    <a:pt x="333726" y="93218"/>
                    <a:pt x="259558" y="0"/>
                    <a:pt x="1679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47352" y="315808"/>
            <a:ext cx="11120438" cy="151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Relational Schema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67780" y="7494504"/>
            <a:ext cx="9553319" cy="2290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3"/>
              </a:lnSpc>
              <a:spcBef>
                <a:spcPct val="0"/>
              </a:spcBef>
            </a:pPr>
            <a:endParaRPr/>
          </a:p>
          <a:p>
            <a:pPr algn="ctr">
              <a:lnSpc>
                <a:spcPts val="3683"/>
              </a:lnSpc>
              <a:spcBef>
                <a:spcPct val="0"/>
              </a:spcBef>
            </a:pPr>
            <a:r>
              <a:rPr lang="en-US" sz="306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Medicine entity is related to Disease and Prescription entities through junction tables to support many-to-many relationships and ensure normalization.</a:t>
            </a:r>
          </a:p>
        </p:txBody>
      </p:sp>
      <p:sp>
        <p:nvSpPr>
          <p:cNvPr id="10" name="Freeform 10"/>
          <p:cNvSpPr/>
          <p:nvPr/>
        </p:nvSpPr>
        <p:spPr>
          <a:xfrm rot="-7338023" flipV="1">
            <a:off x="7039288" y="3672403"/>
            <a:ext cx="3174463" cy="3233249"/>
          </a:xfrm>
          <a:custGeom>
            <a:avLst/>
            <a:gdLst/>
            <a:ahLst/>
            <a:cxnLst/>
            <a:rect l="l" t="t" r="r" b="b"/>
            <a:pathLst>
              <a:path w="3174463" h="3233249">
                <a:moveTo>
                  <a:pt x="0" y="3233249"/>
                </a:moveTo>
                <a:lnTo>
                  <a:pt x="3174463" y="3233249"/>
                </a:lnTo>
                <a:lnTo>
                  <a:pt x="3174463" y="0"/>
                </a:lnTo>
                <a:lnTo>
                  <a:pt x="0" y="0"/>
                </a:lnTo>
                <a:lnTo>
                  <a:pt x="0" y="3233249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7859322" y="6236721"/>
            <a:ext cx="5963627" cy="1257783"/>
          </a:xfrm>
          <a:custGeom>
            <a:avLst/>
            <a:gdLst/>
            <a:ahLst/>
            <a:cxnLst/>
            <a:rect l="l" t="t" r="r" b="b"/>
            <a:pathLst>
              <a:path w="5963627" h="1257783">
                <a:moveTo>
                  <a:pt x="0" y="0"/>
                </a:moveTo>
                <a:lnTo>
                  <a:pt x="5963626" y="0"/>
                </a:lnTo>
                <a:lnTo>
                  <a:pt x="5963626" y="1257783"/>
                </a:lnTo>
                <a:lnTo>
                  <a:pt x="0" y="125778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6608017" y="6101951"/>
            <a:ext cx="8466235" cy="1542590"/>
            <a:chOff x="0" y="0"/>
            <a:chExt cx="3473824" cy="63294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73829" cy="632946"/>
            </a:xfrm>
            <a:custGeom>
              <a:avLst/>
              <a:gdLst/>
              <a:ahLst/>
              <a:cxnLst/>
              <a:rect l="l" t="t" r="r" b="b"/>
              <a:pathLst>
                <a:path w="3473829" h="632946">
                  <a:moveTo>
                    <a:pt x="0" y="0"/>
                  </a:moveTo>
                  <a:lnTo>
                    <a:pt x="3473829" y="0"/>
                  </a:lnTo>
                  <a:lnTo>
                    <a:pt x="3473829" y="632946"/>
                  </a:lnTo>
                  <a:lnTo>
                    <a:pt x="0" y="632946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t="-5271" r="48621" b="-461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3473824" cy="6900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91"/>
                </a:lnSpc>
              </a:pPr>
              <a:r>
                <a:rPr lang="en-US" sz="3399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Relationship Description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5767" y="3558935"/>
            <a:ext cx="4496004" cy="2692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26"/>
              </a:lnSpc>
            </a:pPr>
            <a:r>
              <a:rPr lang="en-US" sz="36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MEDICINE_DISEASE(</a:t>
            </a:r>
          </a:p>
          <a:p>
            <a:pPr algn="ctr">
              <a:lnSpc>
                <a:spcPts val="4326"/>
              </a:lnSpc>
            </a:pPr>
            <a:r>
              <a:rPr lang="en-US" sz="36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medicine_id PK/FK,</a:t>
            </a:r>
          </a:p>
          <a:p>
            <a:pPr algn="ctr">
              <a:lnSpc>
                <a:spcPts val="4326"/>
              </a:lnSpc>
            </a:pPr>
            <a:r>
              <a:rPr lang="en-US" sz="36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disease_id PK/FK</a:t>
            </a:r>
          </a:p>
          <a:p>
            <a:pPr algn="ctr">
              <a:lnSpc>
                <a:spcPts val="4326"/>
              </a:lnSpc>
              <a:spcBef>
                <a:spcPct val="0"/>
              </a:spcBef>
            </a:pPr>
            <a:r>
              <a:rPr lang="en-US" sz="360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6490" y="2727836"/>
            <a:ext cx="205777" cy="205777"/>
            <a:chOff x="0" y="0"/>
            <a:chExt cx="310401" cy="3104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90D1CB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749379" y="7284715"/>
            <a:ext cx="205777" cy="205777"/>
            <a:chOff x="0" y="0"/>
            <a:chExt cx="310401" cy="3104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10388" cy="310388"/>
            </a:xfrm>
            <a:custGeom>
              <a:avLst/>
              <a:gdLst/>
              <a:ahLst/>
              <a:cxnLst/>
              <a:rect l="l" t="t" r="r" b="b"/>
              <a:pathLst>
                <a:path w="310388" h="310388">
                  <a:moveTo>
                    <a:pt x="0" y="155194"/>
                  </a:moveTo>
                  <a:cubicBezTo>
                    <a:pt x="0" y="69469"/>
                    <a:pt x="69469" y="0"/>
                    <a:pt x="155194" y="0"/>
                  </a:cubicBezTo>
                  <a:cubicBezTo>
                    <a:pt x="240919" y="0"/>
                    <a:pt x="310388" y="69469"/>
                    <a:pt x="310388" y="155194"/>
                  </a:cubicBezTo>
                  <a:cubicBezTo>
                    <a:pt x="310388" y="240919"/>
                    <a:pt x="240919" y="310388"/>
                    <a:pt x="155194" y="310388"/>
                  </a:cubicBezTo>
                  <a:cubicBezTo>
                    <a:pt x="69469" y="310388"/>
                    <a:pt x="0" y="240919"/>
                    <a:pt x="0" y="155194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646490" y="3422505"/>
            <a:ext cx="11634919" cy="3254830"/>
          </a:xfrm>
          <a:custGeom>
            <a:avLst/>
            <a:gdLst/>
            <a:ahLst/>
            <a:cxnLst/>
            <a:rect l="l" t="t" r="r" b="b"/>
            <a:pathLst>
              <a:path w="11634919" h="3254830">
                <a:moveTo>
                  <a:pt x="0" y="0"/>
                </a:moveTo>
                <a:lnTo>
                  <a:pt x="11634920" y="0"/>
                </a:lnTo>
                <a:lnTo>
                  <a:pt x="11634920" y="3254829"/>
                </a:lnTo>
                <a:lnTo>
                  <a:pt x="0" y="325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13716" b="-7411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0" y="7923015"/>
            <a:ext cx="12077267" cy="1958348"/>
          </a:xfrm>
          <a:custGeom>
            <a:avLst/>
            <a:gdLst/>
            <a:ahLst/>
            <a:cxnLst/>
            <a:rect l="l" t="t" r="r" b="b"/>
            <a:pathLst>
              <a:path w="12077267" h="1958348">
                <a:moveTo>
                  <a:pt x="0" y="0"/>
                </a:moveTo>
                <a:lnTo>
                  <a:pt x="12077267" y="0"/>
                </a:lnTo>
                <a:lnTo>
                  <a:pt x="12077267" y="1958348"/>
                </a:lnTo>
                <a:lnTo>
                  <a:pt x="0" y="1958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6415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585752" y="271462"/>
            <a:ext cx="4920447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Code 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147" y="2460059"/>
            <a:ext cx="6982494" cy="7086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60"/>
              </a:lnSpc>
            </a:pPr>
            <a:r>
              <a:rPr lang="en-US" sz="4186" dirty="0">
                <a:solidFill>
                  <a:srgbClr val="2F4A8A"/>
                </a:solidFill>
                <a:latin typeface="Canva Sans"/>
                <a:ea typeface="Canva Sans"/>
                <a:cs typeface="Canva Sans"/>
                <a:sym typeface="Canva Sans"/>
              </a:rPr>
              <a:t>CREATE TABLE MEDICINE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5627" y="7072617"/>
            <a:ext cx="7668294" cy="629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 dirty="0">
                <a:solidFill>
                  <a:srgbClr val="2F4A8A"/>
                </a:solidFill>
                <a:latin typeface="Canva Sans"/>
                <a:ea typeface="Canva Sans"/>
                <a:cs typeface="Canva Sans"/>
                <a:sym typeface="Canva Sans"/>
              </a:rPr>
              <a:t>INSERT INTO MEDICINE VALUES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692867" y="-3961841"/>
            <a:ext cx="9519926" cy="10991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06"/>
              </a:lnSpc>
            </a:pPr>
            <a:r>
              <a:rPr lang="en-US" sz="23672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 algn="l">
              <a:lnSpc>
                <a:spcPts val="29149"/>
              </a:lnSpc>
            </a:pPr>
            <a:r>
              <a:rPr lang="en-US" sz="2429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   Doctor </a:t>
            </a:r>
          </a:p>
        </p:txBody>
      </p:sp>
      <p:sp>
        <p:nvSpPr>
          <p:cNvPr id="6" name="Freeform 6"/>
          <p:cNvSpPr/>
          <p:nvPr/>
        </p:nvSpPr>
        <p:spPr>
          <a:xfrm>
            <a:off x="10739076" y="7623143"/>
            <a:ext cx="703764" cy="705602"/>
          </a:xfrm>
          <a:custGeom>
            <a:avLst/>
            <a:gdLst/>
            <a:ahLst/>
            <a:cxnLst/>
            <a:rect l="l" t="t" r="r" b="b"/>
            <a:pathLst>
              <a:path w="703764" h="705602">
                <a:moveTo>
                  <a:pt x="0" y="0"/>
                </a:moveTo>
                <a:lnTo>
                  <a:pt x="703764" y="0"/>
                </a:lnTo>
                <a:lnTo>
                  <a:pt x="703764" y="705603"/>
                </a:lnTo>
                <a:lnTo>
                  <a:pt x="0" y="705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54788" y="1971453"/>
            <a:ext cx="3614384" cy="375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24"/>
              </a:lnSpc>
            </a:pPr>
            <a:r>
              <a:rPr lang="en-US" sz="21874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04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028" y="3714702"/>
            <a:ext cx="7395153" cy="40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46395" y="904875"/>
            <a:ext cx="7395153" cy="10051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2F4A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Doctor Entity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1033" y="3080933"/>
            <a:ext cx="13667461" cy="6876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9"/>
              </a:lnSpc>
            </a:pPr>
            <a:r>
              <a:rPr lang="en-US" sz="5024" b="1">
                <a:solidFill>
                  <a:srgbClr val="2F4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 Conceptual design</a:t>
            </a:r>
            <a:r>
              <a:rPr lang="en-US" sz="5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ctr">
              <a:lnSpc>
                <a:spcPts val="5188"/>
              </a:lnSpc>
            </a:pPr>
            <a:endParaRPr lang="en-US" sz="502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5188"/>
              </a:lnSpc>
              <a:spcBef>
                <a:spcPct val="0"/>
              </a:spcBef>
            </a:pPr>
            <a:endParaRPr lang="en-US" sz="502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57772" lvl="1" indent="-428886" algn="l">
              <a:lnSpc>
                <a:spcPts val="4767"/>
              </a:lnSpc>
              <a:buFont typeface="Arial"/>
              <a:buChar char="•"/>
            </a:pPr>
            <a:r>
              <a:rPr lang="en-US" sz="3973" b="1">
                <a:solidFill>
                  <a:srgbClr val="2F4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 Name</a:t>
            </a:r>
            <a:r>
              <a:rPr lang="en-US" sz="39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Doctor</a:t>
            </a:r>
          </a:p>
          <a:p>
            <a:pPr algn="l">
              <a:lnSpc>
                <a:spcPts val="4767"/>
              </a:lnSpc>
            </a:pPr>
            <a:endParaRPr lang="en-US" sz="397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767"/>
              </a:lnSpc>
            </a:pPr>
            <a:r>
              <a:rPr lang="en-US" sz="39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857772" lvl="1" indent="-428886" algn="l">
              <a:lnSpc>
                <a:spcPts val="4767"/>
              </a:lnSpc>
              <a:buFont typeface="Arial"/>
              <a:buChar char="•"/>
            </a:pPr>
            <a:r>
              <a:rPr lang="en-US" sz="3973" b="1">
                <a:solidFill>
                  <a:srgbClr val="2F4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9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The Doctor entity stores information about doctors who diagnose patients and issue prescriptions for the appropriate medicines. It includes their ID, name, qualification, and specialization. </a:t>
            </a:r>
          </a:p>
        </p:txBody>
      </p:sp>
      <p:sp>
        <p:nvSpPr>
          <p:cNvPr id="6" name="AutoShape 6"/>
          <p:cNvSpPr/>
          <p:nvPr/>
        </p:nvSpPr>
        <p:spPr>
          <a:xfrm>
            <a:off x="7471531" y="2272008"/>
            <a:ext cx="2887301" cy="0"/>
          </a:xfrm>
          <a:prstGeom prst="line">
            <a:avLst/>
          </a:prstGeom>
          <a:ln w="38100" cap="flat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88993" y="2521135"/>
            <a:ext cx="6768506" cy="281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2"/>
              </a:lnSpc>
              <a:spcBef>
                <a:spcPct val="0"/>
              </a:spcBef>
            </a:pPr>
            <a:r>
              <a:rPr lang="en-US" sz="466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</a:t>
            </a:r>
            <a:r>
              <a:rPr lang="en-US" sz="466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doctor_id</a:t>
            </a:r>
            <a:r>
              <a:rPr lang="en-US" sz="466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>
              <a:lnSpc>
                <a:spcPts val="5592"/>
              </a:lnSpc>
              <a:spcBef>
                <a:spcPct val="0"/>
              </a:spcBef>
            </a:pPr>
            <a:r>
              <a:rPr lang="en-US" sz="466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</a:t>
            </a:r>
            <a:r>
              <a:rPr lang="en-US" sz="466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doctor_name</a:t>
            </a:r>
            <a:r>
              <a:rPr lang="en-US" sz="466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l">
              <a:lnSpc>
                <a:spcPts val="5592"/>
              </a:lnSpc>
              <a:spcBef>
                <a:spcPct val="0"/>
              </a:spcBef>
            </a:pPr>
            <a:r>
              <a:rPr lang="en-US" sz="466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qualification </a:t>
            </a:r>
          </a:p>
          <a:p>
            <a:pPr algn="l">
              <a:lnSpc>
                <a:spcPts val="5592"/>
              </a:lnSpc>
              <a:spcBef>
                <a:spcPct val="0"/>
              </a:spcBef>
            </a:pPr>
            <a:r>
              <a:rPr lang="en-US" sz="466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specialization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-1143000" y="647700"/>
            <a:ext cx="8182011" cy="10881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6285" b="1" dirty="0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Attributes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4032" y="6479131"/>
            <a:ext cx="6194980" cy="362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5"/>
              </a:lnSpc>
            </a:pPr>
            <a:r>
              <a:rPr lang="en-US" sz="5412" b="1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Primary Key </a:t>
            </a:r>
          </a:p>
          <a:p>
            <a:pPr algn="ctr">
              <a:lnSpc>
                <a:spcPts val="6495"/>
              </a:lnSpc>
              <a:spcBef>
                <a:spcPct val="0"/>
              </a:spcBef>
            </a:pPr>
            <a:endParaRPr lang="en-US" sz="5412" b="1">
              <a:solidFill>
                <a:srgbClr val="2F4A8A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ctr">
              <a:lnSpc>
                <a:spcPts val="6495"/>
              </a:lnSpc>
              <a:spcBef>
                <a:spcPct val="0"/>
              </a:spcBef>
            </a:pPr>
            <a:r>
              <a:rPr lang="en-US" sz="5412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• </a:t>
            </a:r>
            <a:r>
              <a:rPr lang="en-US" sz="5412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doctor_id  </a:t>
            </a:r>
          </a:p>
          <a:p>
            <a:pPr algn="ctr">
              <a:lnSpc>
                <a:spcPts val="3953"/>
              </a:lnSpc>
              <a:spcBef>
                <a:spcPct val="0"/>
              </a:spcBef>
            </a:pPr>
            <a:endParaRPr lang="en-US" sz="5412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ctr">
              <a:lnSpc>
                <a:spcPts val="5365"/>
              </a:lnSpc>
              <a:spcBef>
                <a:spcPct val="0"/>
              </a:spcBef>
            </a:pPr>
            <a:r>
              <a:rPr lang="en-US" sz="4471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11293" y="6267899"/>
            <a:ext cx="9749835" cy="31727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42"/>
              </a:lnSpc>
            </a:pPr>
            <a:r>
              <a:rPr lang="en-US" sz="6368" b="1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Relational schema</a:t>
            </a:r>
          </a:p>
          <a:p>
            <a:pPr algn="ctr">
              <a:lnSpc>
                <a:spcPts val="7642"/>
              </a:lnSpc>
            </a:pPr>
            <a:r>
              <a:rPr lang="en-US" sz="636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  <a:p>
            <a:pPr algn="r">
              <a:lnSpc>
                <a:spcPts val="4913"/>
              </a:lnSpc>
            </a:pPr>
            <a:r>
              <a:rPr lang="en-US" sz="40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 doctor_id PK, doctor_name, qualification, </a:t>
            </a:r>
          </a:p>
          <a:p>
            <a:pPr algn="just">
              <a:lnSpc>
                <a:spcPts val="4913"/>
              </a:lnSpc>
              <a:spcBef>
                <a:spcPct val="0"/>
              </a:spcBef>
            </a:pPr>
            <a:r>
              <a:rPr lang="en-US" sz="4094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specialization  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637715" y="670560"/>
            <a:ext cx="6661292" cy="484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38"/>
              </a:lnSpc>
              <a:spcBef>
                <a:spcPct val="0"/>
              </a:spcBef>
            </a:pPr>
            <a:r>
              <a:rPr lang="en-US" sz="4532" b="1" dirty="0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       CONSTRAINTS </a:t>
            </a:r>
          </a:p>
          <a:p>
            <a:pPr algn="just">
              <a:lnSpc>
                <a:spcPts val="5438"/>
              </a:lnSpc>
              <a:spcBef>
                <a:spcPct val="0"/>
              </a:spcBef>
            </a:pPr>
            <a:endParaRPr lang="en-US" sz="4532" b="1" dirty="0">
              <a:solidFill>
                <a:srgbClr val="2F4A8A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algn="just">
              <a:lnSpc>
                <a:spcPts val="5438"/>
              </a:lnSpc>
              <a:spcBef>
                <a:spcPct val="0"/>
              </a:spcBef>
            </a:pPr>
            <a:endParaRPr lang="en-US" sz="4532" b="1" dirty="0">
              <a:solidFill>
                <a:srgbClr val="2F4A8A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  <a:p>
            <a:pPr marL="978459" lvl="1" indent="-489230" algn="l">
              <a:lnSpc>
                <a:spcPts val="5438"/>
              </a:lnSpc>
              <a:buFont typeface="Arial"/>
              <a:buChar char="•"/>
            </a:pPr>
            <a:r>
              <a:rPr lang="en-US" sz="4532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Primary Key: </a:t>
            </a:r>
            <a:r>
              <a:rPr lang="en-US" sz="4532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doctor_id</a:t>
            </a:r>
            <a:endParaRPr lang="en-US" sz="4532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5438"/>
              </a:lnSpc>
            </a:pPr>
            <a:r>
              <a:rPr lang="en-US" sz="4532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marL="978459" lvl="1" indent="-489230" algn="just">
              <a:lnSpc>
                <a:spcPts val="5438"/>
              </a:lnSpc>
              <a:buFont typeface="Arial"/>
              <a:buChar char="•"/>
            </a:pPr>
            <a:r>
              <a:rPr lang="en-US" sz="4532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NOT NULL: </a:t>
            </a:r>
            <a:r>
              <a:rPr lang="en-US" sz="4532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doctor_id</a:t>
            </a:r>
            <a:r>
              <a:rPr lang="en-US" sz="4532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5106" y="644098"/>
            <a:ext cx="15935666" cy="10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51"/>
              </a:lnSpc>
            </a:pPr>
            <a:r>
              <a:rPr lang="en-US" sz="5965" b="1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Relationship description </a:t>
            </a:r>
          </a:p>
        </p:txBody>
      </p:sp>
      <p:sp>
        <p:nvSpPr>
          <p:cNvPr id="3" name="AutoShape 3"/>
          <p:cNvSpPr/>
          <p:nvPr/>
        </p:nvSpPr>
        <p:spPr>
          <a:xfrm>
            <a:off x="6387739" y="2060270"/>
            <a:ext cx="5022994" cy="0"/>
          </a:xfrm>
          <a:prstGeom prst="line">
            <a:avLst/>
          </a:prstGeom>
          <a:ln w="38100" cap="flat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705695" y="2647950"/>
            <a:ext cx="16876610" cy="6196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0"/>
              </a:lnSpc>
            </a:pPr>
            <a:r>
              <a:rPr lang="en-US" sz="437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The Doctor entity is related to the Prescription entity.</a:t>
            </a:r>
          </a:p>
          <a:p>
            <a:pPr algn="ctr">
              <a:lnSpc>
                <a:spcPts val="7090"/>
              </a:lnSpc>
            </a:pPr>
            <a:r>
              <a:rPr lang="en-US" sz="437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 </a:t>
            </a:r>
          </a:p>
          <a:p>
            <a:pPr algn="ctr">
              <a:lnSpc>
                <a:spcPts val="7090"/>
              </a:lnSpc>
            </a:pPr>
            <a:r>
              <a:rPr lang="en-US" sz="437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One Doctor can issue many prescriptions (1:N) </a:t>
            </a:r>
          </a:p>
          <a:p>
            <a:pPr algn="ctr">
              <a:lnSpc>
                <a:spcPts val="7090"/>
              </a:lnSpc>
            </a:pPr>
            <a:r>
              <a:rPr lang="en-US" sz="437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• Each Prescription is issued by exactly one Doctor </a:t>
            </a:r>
          </a:p>
          <a:p>
            <a:pPr algn="ctr">
              <a:lnSpc>
                <a:spcPts val="7090"/>
              </a:lnSpc>
            </a:pPr>
            <a:endParaRPr lang="en-US" sz="4376">
              <a:solidFill>
                <a:srgbClr val="000000"/>
              </a:solidFill>
              <a:latin typeface="Alata"/>
              <a:ea typeface="Alata"/>
              <a:cs typeface="Alata"/>
              <a:sym typeface="Alata"/>
            </a:endParaRPr>
          </a:p>
          <a:p>
            <a:pPr algn="ctr">
              <a:lnSpc>
                <a:spcPts val="7090"/>
              </a:lnSpc>
            </a:pPr>
            <a:r>
              <a:rPr lang="en-US" sz="4376">
                <a:solidFill>
                  <a:srgbClr val="000000"/>
                </a:solidFill>
                <a:latin typeface="Alata"/>
                <a:ea typeface="Alata"/>
                <a:cs typeface="Alata"/>
                <a:sym typeface="Alata"/>
              </a:rPr>
              <a:t>This relationship is implemented using the doctor_id foreign key in the Prescription table. 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734655" cy="702548"/>
          </a:xfrm>
          <a:custGeom>
            <a:avLst/>
            <a:gdLst/>
            <a:ahLst/>
            <a:cxnLst/>
            <a:rect l="l" t="t" r="r" b="b"/>
            <a:pathLst>
              <a:path w="18734655" h="702548">
                <a:moveTo>
                  <a:pt x="0" y="0"/>
                </a:moveTo>
                <a:lnTo>
                  <a:pt x="18734655" y="0"/>
                </a:lnTo>
                <a:lnTo>
                  <a:pt x="18734655" y="702548"/>
                </a:lnTo>
                <a:lnTo>
                  <a:pt x="0" y="7025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02548"/>
            <a:ext cx="18086254" cy="678233"/>
          </a:xfrm>
          <a:custGeom>
            <a:avLst/>
            <a:gdLst/>
            <a:ahLst/>
            <a:cxnLst/>
            <a:rect l="l" t="t" r="r" b="b"/>
            <a:pathLst>
              <a:path w="18086254" h="678233">
                <a:moveTo>
                  <a:pt x="0" y="0"/>
                </a:moveTo>
                <a:lnTo>
                  <a:pt x="18086254" y="0"/>
                </a:lnTo>
                <a:lnTo>
                  <a:pt x="18086254" y="678233"/>
                </a:lnTo>
                <a:lnTo>
                  <a:pt x="0" y="6782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24201" y="611238"/>
            <a:ext cx="18734655" cy="9675762"/>
          </a:xfrm>
          <a:custGeom>
            <a:avLst/>
            <a:gdLst/>
            <a:ahLst/>
            <a:cxnLst/>
            <a:rect l="l" t="t" r="r" b="b"/>
            <a:pathLst>
              <a:path w="18734655" h="9675762">
                <a:moveTo>
                  <a:pt x="0" y="0"/>
                </a:moveTo>
                <a:lnTo>
                  <a:pt x="18734655" y="0"/>
                </a:lnTo>
                <a:lnTo>
                  <a:pt x="18734655" y="9675762"/>
                </a:lnTo>
                <a:lnTo>
                  <a:pt x="0" y="96757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58" r="-994" b="-576"/>
            </a:stretch>
          </a:blipFill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40969" y="627764"/>
            <a:ext cx="11006052" cy="9031472"/>
          </a:xfrm>
          <a:custGeom>
            <a:avLst/>
            <a:gdLst/>
            <a:ahLst/>
            <a:cxnLst/>
            <a:rect l="l" t="t" r="r" b="b"/>
            <a:pathLst>
              <a:path w="11006052" h="9031472">
                <a:moveTo>
                  <a:pt x="0" y="0"/>
                </a:moveTo>
                <a:lnTo>
                  <a:pt x="11006052" y="0"/>
                </a:lnTo>
                <a:lnTo>
                  <a:pt x="11006052" y="9031472"/>
                </a:lnTo>
                <a:lnTo>
                  <a:pt x="0" y="90314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432725" y="5467350"/>
            <a:ext cx="8508149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98"/>
              </a:lnSpc>
            </a:pPr>
            <a:r>
              <a:rPr lang="en-US" sz="12498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 Entity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623560" y="1838757"/>
            <a:ext cx="6111240" cy="4274391"/>
            <a:chOff x="-20320" y="-819785"/>
            <a:chExt cx="8148320" cy="56991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0" cy="4879403"/>
            </a:xfrm>
            <a:custGeom>
              <a:avLst/>
              <a:gdLst/>
              <a:ahLst/>
              <a:cxnLst/>
              <a:rect l="l" t="t" r="r" b="b"/>
              <a:pathLst>
                <a:path w="8128000" h="4879403">
                  <a:moveTo>
                    <a:pt x="0" y="0"/>
                  </a:moveTo>
                  <a:lnTo>
                    <a:pt x="8128000" y="0"/>
                  </a:lnTo>
                  <a:lnTo>
                    <a:pt x="8128000" y="4879403"/>
                  </a:lnTo>
                  <a:lnTo>
                    <a:pt x="0" y="4879403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860" r="-8860" b="2358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-20320" y="-819785"/>
              <a:ext cx="8128000" cy="4888924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8720"/>
                </a:lnSpc>
              </a:pPr>
              <a:r>
                <a:rPr lang="en-US" sz="156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028" y="3714702"/>
            <a:ext cx="7395153" cy="40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4284" y="2926869"/>
            <a:ext cx="13667461" cy="6276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9"/>
              </a:lnSpc>
            </a:pPr>
            <a:r>
              <a:rPr lang="en-US" sz="5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---  </a:t>
            </a:r>
            <a:r>
              <a:rPr lang="en-US" sz="5024" b="1">
                <a:solidFill>
                  <a:srgbClr val="2F4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Conceptual Design</a:t>
            </a:r>
            <a:r>
              <a:rPr lang="en-US" sz="5024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---</a:t>
            </a:r>
          </a:p>
          <a:p>
            <a:pPr algn="ctr">
              <a:lnSpc>
                <a:spcPts val="5188"/>
              </a:lnSpc>
            </a:pPr>
            <a:endParaRPr lang="en-US" sz="502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5188"/>
              </a:lnSpc>
              <a:spcBef>
                <a:spcPct val="0"/>
              </a:spcBef>
            </a:pPr>
            <a:endParaRPr lang="en-US" sz="5024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57772" lvl="1" indent="-428886" algn="l">
              <a:lnSpc>
                <a:spcPts val="4767"/>
              </a:lnSpc>
              <a:buFont typeface="Arial"/>
              <a:buChar char="•"/>
            </a:pPr>
            <a:r>
              <a:rPr lang="en-US" sz="3973" b="1">
                <a:solidFill>
                  <a:srgbClr val="2F4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 Name</a:t>
            </a:r>
            <a:r>
              <a:rPr lang="en-US" sz="39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Prescription</a:t>
            </a:r>
          </a:p>
          <a:p>
            <a:pPr algn="l">
              <a:lnSpc>
                <a:spcPts val="4767"/>
              </a:lnSpc>
            </a:pPr>
            <a:endParaRPr lang="en-US" sz="3973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767"/>
              </a:lnSpc>
            </a:pPr>
            <a:r>
              <a:rPr lang="en-US" sz="39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857772" lvl="1" indent="-428886" algn="l">
              <a:lnSpc>
                <a:spcPts val="4767"/>
              </a:lnSpc>
              <a:buFont typeface="Arial"/>
              <a:buChar char="•"/>
            </a:pPr>
            <a:r>
              <a:rPr lang="en-US" sz="3973" b="1">
                <a:solidFill>
                  <a:srgbClr val="2F4A8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973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The Prescription entity stores header information for medical prescriptions issued by doctors to patients, including the prescribing doctor, patient name, and issue date.</a:t>
            </a:r>
          </a:p>
        </p:txBody>
      </p:sp>
      <p:sp>
        <p:nvSpPr>
          <p:cNvPr id="5" name="Freeform 5"/>
          <p:cNvSpPr/>
          <p:nvPr/>
        </p:nvSpPr>
        <p:spPr>
          <a:xfrm>
            <a:off x="12376675" y="2645686"/>
            <a:ext cx="4207649" cy="3419671"/>
          </a:xfrm>
          <a:custGeom>
            <a:avLst/>
            <a:gdLst/>
            <a:ahLst/>
            <a:cxnLst/>
            <a:rect l="l" t="t" r="r" b="b"/>
            <a:pathLst>
              <a:path w="4207649" h="3419671">
                <a:moveTo>
                  <a:pt x="0" y="0"/>
                </a:moveTo>
                <a:lnTo>
                  <a:pt x="4207648" y="0"/>
                </a:lnTo>
                <a:lnTo>
                  <a:pt x="4207648" y="3419670"/>
                </a:lnTo>
                <a:lnTo>
                  <a:pt x="0" y="341967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446395" y="904875"/>
            <a:ext cx="7395153" cy="1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2F4A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Prescription Entity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89256" y="3920252"/>
            <a:ext cx="3157780" cy="884132"/>
            <a:chOff x="0" y="0"/>
            <a:chExt cx="2678027" cy="749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8032" cy="749806"/>
            </a:xfrm>
            <a:custGeom>
              <a:avLst/>
              <a:gdLst/>
              <a:ahLst/>
              <a:cxnLst/>
              <a:rect l="l" t="t" r="r" b="b"/>
              <a:pathLst>
                <a:path w="2678032" h="749806">
                  <a:moveTo>
                    <a:pt x="0" y="0"/>
                  </a:moveTo>
                  <a:lnTo>
                    <a:pt x="2678032" y="0"/>
                  </a:lnTo>
                  <a:lnTo>
                    <a:pt x="2678032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33354" b="1168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78027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1840" y="3496868"/>
            <a:ext cx="16905029" cy="2997578"/>
            <a:chOff x="0" y="-321469"/>
            <a:chExt cx="22540038" cy="3996771"/>
          </a:xfrm>
        </p:grpSpPr>
        <p:grpSp>
          <p:nvGrpSpPr>
            <p:cNvPr id="9" name="Group 9"/>
            <p:cNvGrpSpPr/>
            <p:nvPr/>
          </p:nvGrpSpPr>
          <p:grpSpPr>
            <a:xfrm>
              <a:off x="10222532" y="346249"/>
              <a:ext cx="5339938" cy="2187223"/>
              <a:chOff x="0" y="-38056"/>
              <a:chExt cx="1054803" cy="4320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9675" cy="374894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374894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274872"/>
                    </a:lnTo>
                    <a:cubicBezTo>
                      <a:pt x="1039675" y="330113"/>
                      <a:pt x="994893" y="374894"/>
                      <a:pt x="939653" y="374894"/>
                    </a:cubicBezTo>
                    <a:lnTo>
                      <a:pt x="100022" y="374894"/>
                    </a:lnTo>
                    <a:cubicBezTo>
                      <a:pt x="44781" y="374894"/>
                      <a:pt x="0" y="330113"/>
                      <a:pt x="0" y="274872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38056"/>
                <a:ext cx="1054803" cy="432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6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PRIMARY KEY/AUTO_INCREMENT</a:t>
                </a:r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259437" y="468316"/>
              <a:ext cx="1968494" cy="1968494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DCD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INT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prescription_id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V="1">
              <a:off x="8075244" y="14144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633488" y="-321469"/>
              <a:ext cx="4906550" cy="3996771"/>
              <a:chOff x="0" y="-47625"/>
              <a:chExt cx="726896" cy="592114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26896" cy="544489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544489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121888"/>
                      <a:pt x="726896" y="272245"/>
                    </a:cubicBezTo>
                    <a:cubicBezTo>
                      <a:pt x="726896" y="422601"/>
                      <a:pt x="631965" y="544489"/>
                      <a:pt x="512141" y="544489"/>
                    </a:cubicBezTo>
                    <a:lnTo>
                      <a:pt x="39447" y="544489"/>
                    </a:lnTo>
                    <a:cubicBezTo>
                      <a:pt x="17661" y="544489"/>
                      <a:pt x="0" y="526828"/>
                      <a:pt x="0" y="505042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5400" y="-47625"/>
                <a:ext cx="573161" cy="59211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Unique identifier for each prescription (auto-generated)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721840" y="1404022"/>
            <a:ext cx="8422160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Attributes (1)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91457" y="6870599"/>
            <a:ext cx="16905029" cy="2132827"/>
            <a:chOff x="0" y="0"/>
            <a:chExt cx="22540038" cy="2843770"/>
          </a:xfrm>
        </p:grpSpPr>
        <p:grpSp>
          <p:nvGrpSpPr>
            <p:cNvPr id="26" name="Group 26"/>
            <p:cNvGrpSpPr/>
            <p:nvPr/>
          </p:nvGrpSpPr>
          <p:grpSpPr>
            <a:xfrm>
              <a:off x="10171732" y="267610"/>
              <a:ext cx="5263353" cy="2369904"/>
              <a:chOff x="0" y="-28575"/>
              <a:chExt cx="1039675" cy="468129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39675" cy="410979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410979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310957"/>
                    </a:lnTo>
                    <a:cubicBezTo>
                      <a:pt x="1039675" y="366198"/>
                      <a:pt x="994893" y="410979"/>
                      <a:pt x="939653" y="410979"/>
                    </a:cubicBezTo>
                    <a:lnTo>
                      <a:pt x="100022" y="410979"/>
                    </a:lnTo>
                    <a:cubicBezTo>
                      <a:pt x="44781" y="410979"/>
                      <a:pt x="0" y="366198"/>
                      <a:pt x="0" y="310957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28575"/>
                <a:ext cx="1039675" cy="46812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700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FOREIGN KEY (references </a:t>
                </a:r>
                <a:r>
                  <a:rPr lang="en-US" sz="2700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doctor.doctor_id</a:t>
                </a:r>
                <a:r>
                  <a:rPr lang="en-US" sz="2700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)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259437" y="468316"/>
              <a:ext cx="1968494" cy="196849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0D1CB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INT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doctor_id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8075244" y="14144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7633488" y="0"/>
              <a:ext cx="4906550" cy="2828925"/>
              <a:chOff x="0" y="0"/>
              <a:chExt cx="726896" cy="4191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26896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19100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93819"/>
                      <a:pt x="726896" y="209550"/>
                    </a:cubicBezTo>
                    <a:cubicBezTo>
                      <a:pt x="726896" y="325281"/>
                      <a:pt x="631965" y="419100"/>
                      <a:pt x="512141" y="419100"/>
                    </a:cubicBezTo>
                    <a:lnTo>
                      <a:pt x="39447" y="419100"/>
                    </a:lnTo>
                    <a:cubicBezTo>
                      <a:pt x="17661" y="419100"/>
                      <a:pt x="0" y="401439"/>
                      <a:pt x="0" y="379653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400" y="-47625"/>
                <a:ext cx="498296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Identifies the doctor who issued the prescription</a:t>
                </a:r>
              </a:p>
            </p:txBody>
          </p:sp>
        </p:grp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89256" y="3920252"/>
            <a:ext cx="3157780" cy="884132"/>
            <a:chOff x="0" y="0"/>
            <a:chExt cx="2678027" cy="749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8032" cy="749806"/>
            </a:xfrm>
            <a:custGeom>
              <a:avLst/>
              <a:gdLst/>
              <a:ahLst/>
              <a:cxnLst/>
              <a:rect l="l" t="t" r="r" b="b"/>
              <a:pathLst>
                <a:path w="2678032" h="749806">
                  <a:moveTo>
                    <a:pt x="0" y="0"/>
                  </a:moveTo>
                  <a:lnTo>
                    <a:pt x="2678032" y="0"/>
                  </a:lnTo>
                  <a:lnTo>
                    <a:pt x="2678032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33354" b="1168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78027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1840" y="3737970"/>
            <a:ext cx="16905028" cy="2132827"/>
            <a:chOff x="0" y="0"/>
            <a:chExt cx="22540037" cy="2843770"/>
          </a:xfrm>
        </p:grpSpPr>
        <p:grpSp>
          <p:nvGrpSpPr>
            <p:cNvPr id="9" name="Group 9"/>
            <p:cNvGrpSpPr/>
            <p:nvPr/>
          </p:nvGrpSpPr>
          <p:grpSpPr>
            <a:xfrm>
              <a:off x="10222532" y="538908"/>
              <a:ext cx="5263353" cy="1897901"/>
              <a:chOff x="0" y="0"/>
              <a:chExt cx="1039675" cy="37489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9675" cy="374894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374894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274872"/>
                    </a:lnTo>
                    <a:cubicBezTo>
                      <a:pt x="1039675" y="330113"/>
                      <a:pt x="994893" y="374894"/>
                      <a:pt x="939653" y="374894"/>
                    </a:cubicBezTo>
                    <a:lnTo>
                      <a:pt x="100022" y="374894"/>
                    </a:lnTo>
                    <a:cubicBezTo>
                      <a:pt x="44781" y="374894"/>
                      <a:pt x="0" y="330113"/>
                      <a:pt x="0" y="274872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039675" cy="432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70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NOT NULL</a:t>
                </a:r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156913" y="227983"/>
              <a:ext cx="2704956" cy="2615786"/>
              <a:chOff x="0" y="0"/>
              <a:chExt cx="1093375" cy="105733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93375" cy="1057332"/>
              </a:xfrm>
              <a:custGeom>
                <a:avLst/>
                <a:gdLst/>
                <a:ahLst/>
                <a:cxnLst/>
                <a:rect l="l" t="t" r="r" b="b"/>
                <a:pathLst>
                  <a:path w="1093375" h="1057332">
                    <a:moveTo>
                      <a:pt x="546688" y="0"/>
                    </a:moveTo>
                    <a:cubicBezTo>
                      <a:pt x="244760" y="0"/>
                      <a:pt x="0" y="236692"/>
                      <a:pt x="0" y="528666"/>
                    </a:cubicBezTo>
                    <a:cubicBezTo>
                      <a:pt x="0" y="820640"/>
                      <a:pt x="244760" y="1057332"/>
                      <a:pt x="546688" y="1057332"/>
                    </a:cubicBezTo>
                    <a:cubicBezTo>
                      <a:pt x="848615" y="1057332"/>
                      <a:pt x="1093375" y="820640"/>
                      <a:pt x="1093375" y="528666"/>
                    </a:cubicBezTo>
                    <a:cubicBezTo>
                      <a:pt x="1093375" y="236692"/>
                      <a:pt x="848615" y="0"/>
                      <a:pt x="546688" y="0"/>
                    </a:cubicBezTo>
                    <a:close/>
                  </a:path>
                </a:pathLst>
              </a:custGeom>
              <a:solidFill>
                <a:srgbClr val="AFDCDD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54153" y="75954"/>
                <a:ext cx="955982" cy="9162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r>
                  <a:rPr lang="en-US" sz="2600" i="1" dirty="0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VARCHAR (100)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patient_name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>
              <a:off x="8775869" y="1439863"/>
              <a:ext cx="1446663" cy="47996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633488" y="0"/>
              <a:ext cx="4906550" cy="2828925"/>
              <a:chOff x="0" y="0"/>
              <a:chExt cx="726896" cy="4191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26896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19100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93819"/>
                      <a:pt x="726896" y="209550"/>
                    </a:cubicBezTo>
                    <a:cubicBezTo>
                      <a:pt x="726896" y="325281"/>
                      <a:pt x="631965" y="419100"/>
                      <a:pt x="512141" y="419100"/>
                    </a:cubicBezTo>
                    <a:lnTo>
                      <a:pt x="39447" y="419100"/>
                    </a:lnTo>
                    <a:cubicBezTo>
                      <a:pt x="17661" y="419100"/>
                      <a:pt x="0" y="401439"/>
                      <a:pt x="0" y="379653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5400" y="-47625"/>
                <a:ext cx="498296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Name of the patient receiving the prescription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721840" y="1404022"/>
            <a:ext cx="8936558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Attributes (2)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91457" y="6870599"/>
            <a:ext cx="16905028" cy="2132827"/>
            <a:chOff x="0" y="0"/>
            <a:chExt cx="22540037" cy="2843770"/>
          </a:xfrm>
        </p:grpSpPr>
        <p:grpSp>
          <p:nvGrpSpPr>
            <p:cNvPr id="26" name="Group 26"/>
            <p:cNvGrpSpPr/>
            <p:nvPr/>
          </p:nvGrpSpPr>
          <p:grpSpPr>
            <a:xfrm>
              <a:off x="10222532" y="538908"/>
              <a:ext cx="5263353" cy="1897901"/>
              <a:chOff x="0" y="0"/>
              <a:chExt cx="1039675" cy="37489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39675" cy="374894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374894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274872"/>
                    </a:lnTo>
                    <a:cubicBezTo>
                      <a:pt x="1039675" y="330113"/>
                      <a:pt x="994893" y="374894"/>
                      <a:pt x="939653" y="374894"/>
                    </a:cubicBezTo>
                    <a:lnTo>
                      <a:pt x="100022" y="374894"/>
                    </a:lnTo>
                    <a:cubicBezTo>
                      <a:pt x="44781" y="374894"/>
                      <a:pt x="0" y="330113"/>
                      <a:pt x="0" y="274872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1039675" cy="432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70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NOT NULL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259437" y="468316"/>
              <a:ext cx="1968494" cy="196849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FDC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DATE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issue_date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8075244" y="14144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7633488" y="0"/>
              <a:ext cx="4906550" cy="2828925"/>
              <a:chOff x="0" y="0"/>
              <a:chExt cx="726896" cy="4191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26896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19100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93819"/>
                      <a:pt x="726896" y="209550"/>
                    </a:cubicBezTo>
                    <a:cubicBezTo>
                      <a:pt x="726896" y="325281"/>
                      <a:pt x="631965" y="419100"/>
                      <a:pt x="512141" y="419100"/>
                    </a:cubicBezTo>
                    <a:lnTo>
                      <a:pt x="39447" y="419100"/>
                    </a:lnTo>
                    <a:cubicBezTo>
                      <a:pt x="17661" y="419100"/>
                      <a:pt x="0" y="401439"/>
                      <a:pt x="0" y="379653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400" y="-47625"/>
                <a:ext cx="498296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Date when the prescription was issued</a:t>
                </a:r>
              </a:p>
            </p:txBody>
          </p:sp>
        </p:grp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3266479" y="7224773"/>
            <a:ext cx="2098030" cy="0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grpSp>
        <p:nvGrpSpPr>
          <p:cNvPr id="4" name="Group 4"/>
          <p:cNvGrpSpPr/>
          <p:nvPr/>
        </p:nvGrpSpPr>
        <p:grpSpPr>
          <a:xfrm>
            <a:off x="8784486" y="7715279"/>
            <a:ext cx="1345084" cy="1543021"/>
            <a:chOff x="0" y="0"/>
            <a:chExt cx="70853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535" cy="812800"/>
            </a:xfrm>
            <a:custGeom>
              <a:avLst/>
              <a:gdLst/>
              <a:ahLst/>
              <a:cxnLst/>
              <a:rect l="l" t="t" r="r" b="b"/>
              <a:pathLst>
                <a:path w="708535" h="812800">
                  <a:moveTo>
                    <a:pt x="35426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05335" y="0"/>
                  </a:lnTo>
                  <a:lnTo>
                    <a:pt x="505335" y="406400"/>
                  </a:lnTo>
                  <a:lnTo>
                    <a:pt x="708535" y="406400"/>
                  </a:lnTo>
                  <a:lnTo>
                    <a:pt x="354267" y="812800"/>
                  </a:lnTo>
                  <a:close/>
                </a:path>
              </a:pathLst>
            </a:custGeom>
            <a:solidFill>
              <a:srgbClr val="7EACE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03200" y="-38100"/>
              <a:ext cx="302135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 rot="1909789">
            <a:off x="7440970" y="2338528"/>
            <a:ext cx="963234" cy="3080110"/>
          </a:xfrm>
          <a:custGeom>
            <a:avLst/>
            <a:gdLst/>
            <a:ahLst/>
            <a:cxnLst/>
            <a:rect l="l" t="t" r="r" b="b"/>
            <a:pathLst>
              <a:path w="963234" h="3080110">
                <a:moveTo>
                  <a:pt x="0" y="0"/>
                </a:moveTo>
                <a:lnTo>
                  <a:pt x="963234" y="0"/>
                </a:lnTo>
                <a:lnTo>
                  <a:pt x="963234" y="3080109"/>
                </a:lnTo>
                <a:lnTo>
                  <a:pt x="0" y="30801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8578" y="1468885"/>
            <a:ext cx="5759398" cy="1114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6745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Primary Key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-416783" y="5217914"/>
            <a:ext cx="6656595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Foreign Key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3762" y="3404734"/>
            <a:ext cx="4875507" cy="854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3"/>
              </a:lnSpc>
            </a:pPr>
            <a:r>
              <a:rPr lang="en-US" sz="4988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988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prescription_id</a:t>
            </a:r>
            <a:r>
              <a:rPr lang="en-US" sz="4988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4988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8578" y="6735446"/>
            <a:ext cx="2931046" cy="845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497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doctor_id</a:t>
            </a:r>
            <a:endParaRPr lang="en-US" sz="4970" dirty="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481364" y="6761482"/>
            <a:ext cx="8148297" cy="845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497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Reference: </a:t>
            </a:r>
            <a:r>
              <a:rPr lang="en-US" sz="49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doctor(</a:t>
            </a:r>
            <a:r>
              <a:rPr lang="en-US" sz="497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doctor_id</a:t>
            </a:r>
            <a:r>
              <a:rPr lang="en-US" sz="49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8578" y="9286875"/>
            <a:ext cx="17850786" cy="729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8"/>
              </a:lnSpc>
            </a:pPr>
            <a:r>
              <a:rPr lang="en-US" sz="42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Relationship: Many prescriptions can be issued by one doctor </a:t>
            </a:r>
            <a:r>
              <a:rPr lang="en-US" sz="4270" i="1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(Many-to-One)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0972" y="2709301"/>
            <a:ext cx="3957520" cy="5135618"/>
            <a:chOff x="0" y="0"/>
            <a:chExt cx="5276693" cy="6847491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5276693" cy="2057400"/>
              <a:chOff x="0" y="0"/>
              <a:chExt cx="1042310" cy="4064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04231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310" h="406400">
                    <a:moveTo>
                      <a:pt x="839110" y="0"/>
                    </a:moveTo>
                    <a:cubicBezTo>
                      <a:pt x="951334" y="0"/>
                      <a:pt x="1042310" y="90976"/>
                      <a:pt x="1042310" y="203200"/>
                    </a:cubicBezTo>
                    <a:cubicBezTo>
                      <a:pt x="1042310" y="315424"/>
                      <a:pt x="951334" y="406400"/>
                      <a:pt x="8391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F4A8A"/>
              </a:soli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57150"/>
                <a:ext cx="104231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79"/>
                  </a:lnSpc>
                </a:pPr>
                <a:r>
                  <a:rPr lang="en-US" sz="3199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PRIMARY KEY</a:t>
                </a:r>
              </a:p>
            </p:txBody>
          </p:sp>
        </p:grpSp>
        <p:sp>
          <p:nvSpPr>
            <p:cNvPr id="6" name="AutoShape 6"/>
            <p:cNvSpPr/>
            <p:nvPr/>
          </p:nvSpPr>
          <p:spPr>
            <a:xfrm flipH="1">
              <a:off x="2573202" y="2057400"/>
              <a:ext cx="65144" cy="273269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oval" w="lg" len="lg"/>
              <a:tailEnd type="oval" w="lg" len="lg"/>
            </a:ln>
          </p:spPr>
        </p:sp>
        <p:grpSp>
          <p:nvGrpSpPr>
            <p:cNvPr id="7" name="Group 7"/>
            <p:cNvGrpSpPr/>
            <p:nvPr/>
          </p:nvGrpSpPr>
          <p:grpSpPr>
            <a:xfrm>
              <a:off x="0" y="4790091"/>
              <a:ext cx="5276693" cy="2057400"/>
              <a:chOff x="0" y="0"/>
              <a:chExt cx="1042310" cy="4064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04231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310" h="406400">
                    <a:moveTo>
                      <a:pt x="839110" y="0"/>
                    </a:moveTo>
                    <a:cubicBezTo>
                      <a:pt x="951334" y="0"/>
                      <a:pt x="1042310" y="90976"/>
                      <a:pt x="1042310" y="203200"/>
                    </a:cubicBezTo>
                    <a:cubicBezTo>
                      <a:pt x="1042310" y="315424"/>
                      <a:pt x="951334" y="406400"/>
                      <a:pt x="8391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9FCDFF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57150"/>
                <a:ext cx="104231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AUTO_INCREMENT</a:t>
                </a:r>
              </a:p>
            </p:txBody>
          </p:sp>
        </p:grpSp>
      </p:grpSp>
      <p:grpSp>
        <p:nvGrpSpPr>
          <p:cNvPr id="10" name="Group 10"/>
          <p:cNvGrpSpPr/>
          <p:nvPr/>
        </p:nvGrpSpPr>
        <p:grpSpPr>
          <a:xfrm>
            <a:off x="13302276" y="2709301"/>
            <a:ext cx="3957024" cy="5135618"/>
            <a:chOff x="0" y="0"/>
            <a:chExt cx="5276033" cy="6847491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5276033" cy="2057400"/>
              <a:chOff x="0" y="0"/>
              <a:chExt cx="1042179" cy="406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04217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179" h="406400">
                    <a:moveTo>
                      <a:pt x="838979" y="0"/>
                    </a:moveTo>
                    <a:cubicBezTo>
                      <a:pt x="951204" y="0"/>
                      <a:pt x="1042179" y="90976"/>
                      <a:pt x="1042179" y="203200"/>
                    </a:cubicBezTo>
                    <a:cubicBezTo>
                      <a:pt x="1042179" y="315424"/>
                      <a:pt x="951204" y="406400"/>
                      <a:pt x="83897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9FCD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1042179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NOT NULL</a:t>
                </a:r>
              </a:p>
            </p:txBody>
          </p:sp>
        </p:grpSp>
        <p:sp>
          <p:nvSpPr>
            <p:cNvPr id="14" name="AutoShape 14"/>
            <p:cNvSpPr/>
            <p:nvPr/>
          </p:nvSpPr>
          <p:spPr>
            <a:xfrm flipH="1">
              <a:off x="2572880" y="2057400"/>
              <a:ext cx="65136" cy="273269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oval" w="lg" len="lg"/>
              <a:tailEnd type="oval" w="lg" len="lg"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0" y="4790091"/>
              <a:ext cx="5276033" cy="2057400"/>
              <a:chOff x="0" y="0"/>
              <a:chExt cx="1042179" cy="4064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04217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179" h="406400">
                    <a:moveTo>
                      <a:pt x="838979" y="0"/>
                    </a:moveTo>
                    <a:cubicBezTo>
                      <a:pt x="951204" y="0"/>
                      <a:pt x="1042179" y="90976"/>
                      <a:pt x="1042179" y="203200"/>
                    </a:cubicBezTo>
                    <a:cubicBezTo>
                      <a:pt x="1042179" y="315424"/>
                      <a:pt x="951204" y="406400"/>
                      <a:pt x="83897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F4A8A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1042179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FOREIGN KEY</a:t>
                </a:r>
              </a:p>
            </p:txBody>
          </p:sp>
        </p:grpSp>
      </p:grpSp>
      <p:sp>
        <p:nvSpPr>
          <p:cNvPr id="18" name="Freeform 18"/>
          <p:cNvSpPr/>
          <p:nvPr/>
        </p:nvSpPr>
        <p:spPr>
          <a:xfrm>
            <a:off x="3730829" y="603475"/>
            <a:ext cx="1745804" cy="1534125"/>
          </a:xfrm>
          <a:custGeom>
            <a:avLst/>
            <a:gdLst/>
            <a:ahLst/>
            <a:cxnLst/>
            <a:rect l="l" t="t" r="r" b="b"/>
            <a:pathLst>
              <a:path w="1745804" h="1534125">
                <a:moveTo>
                  <a:pt x="0" y="0"/>
                </a:moveTo>
                <a:lnTo>
                  <a:pt x="1745804" y="0"/>
                </a:lnTo>
                <a:lnTo>
                  <a:pt x="1745804" y="1534125"/>
                </a:lnTo>
                <a:lnTo>
                  <a:pt x="0" y="1534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034943" y="768315"/>
            <a:ext cx="5820881" cy="13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047"/>
              </a:lnSpc>
            </a:pPr>
            <a:r>
              <a:rPr lang="en-US" sz="7891" b="1" dirty="0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Constraints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862226" y="3144859"/>
            <a:ext cx="3519774" cy="621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04"/>
              </a:lnSpc>
              <a:spcBef>
                <a:spcPct val="0"/>
              </a:spcBef>
            </a:pPr>
            <a:r>
              <a:rPr lang="en-US" sz="3645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prescription_id</a:t>
            </a:r>
            <a:endParaRPr lang="en-US" sz="3645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862226" y="6697840"/>
            <a:ext cx="3519774" cy="621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04"/>
              </a:lnSpc>
              <a:spcBef>
                <a:spcPct val="0"/>
              </a:spcBef>
            </a:pPr>
            <a:r>
              <a:rPr lang="en-US" sz="3645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prescription_id</a:t>
            </a:r>
            <a:endParaRPr lang="en-US" sz="3645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9062485" y="2821009"/>
            <a:ext cx="4019465" cy="1269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7156" lvl="1" indent="-393578" algn="l">
              <a:lnSpc>
                <a:spcPts val="5104"/>
              </a:lnSpc>
              <a:buFont typeface="Arial"/>
              <a:buChar char="•"/>
            </a:pPr>
            <a:r>
              <a:rPr lang="en-US" sz="3645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pattient_name</a:t>
            </a:r>
          </a:p>
          <a:p>
            <a:pPr marL="787156" lvl="1" indent="-393578" algn="l">
              <a:lnSpc>
                <a:spcPts val="5104"/>
              </a:lnSpc>
              <a:buFont typeface="Arial"/>
              <a:buChar char="•"/>
            </a:pPr>
            <a:r>
              <a:rPr lang="en-US" sz="3645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issue_date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804034" y="6762510"/>
            <a:ext cx="2103579" cy="62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4"/>
              </a:lnSpc>
              <a:spcBef>
                <a:spcPct val="0"/>
              </a:spcBef>
            </a:pPr>
            <a:r>
              <a:rPr lang="en-US" sz="3645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doctor_id</a:t>
            </a:r>
            <a:endParaRPr lang="en-US" sz="3645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12429374" y="459666"/>
            <a:ext cx="1745804" cy="1534125"/>
          </a:xfrm>
          <a:custGeom>
            <a:avLst/>
            <a:gdLst/>
            <a:ahLst/>
            <a:cxnLst/>
            <a:rect l="l" t="t" r="r" b="b"/>
            <a:pathLst>
              <a:path w="1745804" h="1534125">
                <a:moveTo>
                  <a:pt x="0" y="0"/>
                </a:moveTo>
                <a:lnTo>
                  <a:pt x="1745803" y="0"/>
                </a:lnTo>
                <a:lnTo>
                  <a:pt x="1745803" y="1534125"/>
                </a:lnTo>
                <a:lnTo>
                  <a:pt x="0" y="1534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53000" y="994346"/>
            <a:ext cx="7723013" cy="1170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 b="1" dirty="0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Relational Schema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7200" y="3162300"/>
            <a:ext cx="13763404" cy="4959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12"/>
              </a:lnSpc>
              <a:spcBef>
                <a:spcPct val="0"/>
              </a:spcBef>
            </a:pP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 (</a:t>
            </a:r>
          </a:p>
          <a:p>
            <a:pPr algn="l">
              <a:lnSpc>
                <a:spcPts val="5612"/>
              </a:lnSpc>
              <a:spcBef>
                <a:spcPct val="0"/>
              </a:spcBef>
            </a:pP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4009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prescription_id</a:t>
            </a: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INT [PK, AUTO_INCREMENT],</a:t>
            </a:r>
          </a:p>
          <a:p>
            <a:pPr algn="l">
              <a:lnSpc>
                <a:spcPts val="5612"/>
              </a:lnSpc>
              <a:spcBef>
                <a:spcPct val="0"/>
              </a:spcBef>
            </a:pP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4009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doctor_id</a:t>
            </a: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INT [FK → </a:t>
            </a:r>
            <a:r>
              <a:rPr lang="en-US" sz="4009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doctor.doctor_id</a:t>
            </a: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],</a:t>
            </a:r>
          </a:p>
          <a:p>
            <a:pPr algn="l">
              <a:lnSpc>
                <a:spcPts val="5612"/>
              </a:lnSpc>
              <a:spcBef>
                <a:spcPct val="0"/>
              </a:spcBef>
            </a:pP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4009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patient_name</a:t>
            </a: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VARCHAR(100) [NOT NULL],</a:t>
            </a:r>
          </a:p>
          <a:p>
            <a:pPr algn="l">
              <a:lnSpc>
                <a:spcPts val="5612"/>
              </a:lnSpc>
              <a:spcBef>
                <a:spcPct val="0"/>
              </a:spcBef>
            </a:pP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4009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issue_date</a:t>
            </a: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DATE [NOT NULL]</a:t>
            </a:r>
          </a:p>
          <a:p>
            <a:pPr algn="l">
              <a:lnSpc>
                <a:spcPts val="5612"/>
              </a:lnSpc>
              <a:spcBef>
                <a:spcPct val="0"/>
              </a:spcBef>
            </a:pPr>
            <a:r>
              <a:rPr lang="en-US" sz="400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)</a:t>
            </a:r>
          </a:p>
          <a:p>
            <a:pPr algn="l">
              <a:lnSpc>
                <a:spcPts val="5612"/>
              </a:lnSpc>
              <a:spcBef>
                <a:spcPct val="0"/>
              </a:spcBef>
            </a:pPr>
            <a:endParaRPr lang="en-US" sz="4009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838065" y="4034354"/>
            <a:ext cx="4421235" cy="4845189"/>
          </a:xfrm>
          <a:custGeom>
            <a:avLst/>
            <a:gdLst/>
            <a:ahLst/>
            <a:cxnLst/>
            <a:rect l="l" t="t" r="r" b="b"/>
            <a:pathLst>
              <a:path w="4421235" h="4845189">
                <a:moveTo>
                  <a:pt x="0" y="0"/>
                </a:moveTo>
                <a:lnTo>
                  <a:pt x="4421235" y="0"/>
                </a:lnTo>
                <a:lnTo>
                  <a:pt x="4421235" y="4845189"/>
                </a:lnTo>
                <a:lnTo>
                  <a:pt x="0" y="48451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908160"/>
            <a:ext cx="11120931" cy="4470681"/>
          </a:xfrm>
          <a:custGeom>
            <a:avLst/>
            <a:gdLst/>
            <a:ahLst/>
            <a:cxnLst/>
            <a:rect l="l" t="t" r="r" b="b"/>
            <a:pathLst>
              <a:path w="11120931" h="4470681">
                <a:moveTo>
                  <a:pt x="0" y="0"/>
                </a:moveTo>
                <a:lnTo>
                  <a:pt x="11120931" y="0"/>
                </a:lnTo>
                <a:lnTo>
                  <a:pt x="11120931" y="4470680"/>
                </a:lnTo>
                <a:lnTo>
                  <a:pt x="0" y="44706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304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72655" y="0"/>
            <a:ext cx="5176025" cy="6693806"/>
          </a:xfrm>
          <a:custGeom>
            <a:avLst/>
            <a:gdLst/>
            <a:ahLst/>
            <a:cxnLst/>
            <a:rect l="l" t="t" r="r" b="b"/>
            <a:pathLst>
              <a:path w="5176025" h="6693806">
                <a:moveTo>
                  <a:pt x="0" y="0"/>
                </a:moveTo>
                <a:lnTo>
                  <a:pt x="5176024" y="0"/>
                </a:lnTo>
                <a:lnTo>
                  <a:pt x="5176024" y="6693806"/>
                </a:lnTo>
                <a:lnTo>
                  <a:pt x="0" y="66938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272655" y="6693806"/>
            <a:ext cx="5024301" cy="2442855"/>
          </a:xfrm>
          <a:custGeom>
            <a:avLst/>
            <a:gdLst/>
            <a:ahLst/>
            <a:cxnLst/>
            <a:rect l="l" t="t" r="r" b="b"/>
            <a:pathLst>
              <a:path w="5024301" h="2442855">
                <a:moveTo>
                  <a:pt x="0" y="0"/>
                </a:moveTo>
                <a:lnTo>
                  <a:pt x="5024300" y="0"/>
                </a:lnTo>
                <a:lnTo>
                  <a:pt x="5024300" y="2442855"/>
                </a:lnTo>
                <a:lnTo>
                  <a:pt x="0" y="24428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556" b="-1556"/>
            </a:stretch>
          </a:blipFill>
        </p:spPr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58467" y="313882"/>
            <a:ext cx="11771066" cy="9659236"/>
          </a:xfrm>
          <a:custGeom>
            <a:avLst/>
            <a:gdLst/>
            <a:ahLst/>
            <a:cxnLst/>
            <a:rect l="l" t="t" r="r" b="b"/>
            <a:pathLst>
              <a:path w="11771066" h="9659236">
                <a:moveTo>
                  <a:pt x="0" y="0"/>
                </a:moveTo>
                <a:lnTo>
                  <a:pt x="11771066" y="0"/>
                </a:lnTo>
                <a:lnTo>
                  <a:pt x="11771066" y="9659236"/>
                </a:lnTo>
                <a:lnTo>
                  <a:pt x="0" y="9659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99031" y="5143500"/>
            <a:ext cx="9954419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79"/>
              </a:lnSpc>
            </a:pPr>
            <a:r>
              <a:rPr lang="en-US" sz="12483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Prescription_Details Entity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468775" y="1476851"/>
            <a:ext cx="6266025" cy="4279965"/>
            <a:chOff x="-226700" y="-827276"/>
            <a:chExt cx="8354700" cy="570662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0" cy="4879344"/>
            </a:xfrm>
            <a:custGeom>
              <a:avLst/>
              <a:gdLst/>
              <a:ahLst/>
              <a:cxnLst/>
              <a:rect l="l" t="t" r="r" b="b"/>
              <a:pathLst>
                <a:path w="8128000" h="4879344">
                  <a:moveTo>
                    <a:pt x="0" y="0"/>
                  </a:moveTo>
                  <a:lnTo>
                    <a:pt x="8128000" y="0"/>
                  </a:lnTo>
                  <a:lnTo>
                    <a:pt x="8128000" y="4879344"/>
                  </a:lnTo>
                  <a:lnTo>
                    <a:pt x="0" y="48793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8860" r="-8860" b="23579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-226700" y="-827276"/>
              <a:ext cx="8128000" cy="4888865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18720"/>
                </a:lnSpc>
              </a:pPr>
              <a:r>
                <a:rPr lang="en-US" sz="15600" dirty="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0028" y="3714702"/>
            <a:ext cx="7395153" cy="409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endParaRPr/>
          </a:p>
        </p:txBody>
      </p:sp>
      <p:sp>
        <p:nvSpPr>
          <p:cNvPr id="3" name="Freeform 3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54284" y="2926869"/>
            <a:ext cx="13667461" cy="6876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9"/>
              </a:lnSpc>
            </a:pPr>
            <a:r>
              <a:rPr lang="en-US" sz="502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--- </a:t>
            </a:r>
            <a:r>
              <a:rPr lang="en-US" sz="5024" dirty="0">
                <a:solidFill>
                  <a:srgbClr val="90D1C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024" b="1" dirty="0">
                <a:solidFill>
                  <a:srgbClr val="37D8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Conceptual Design</a:t>
            </a:r>
            <a:r>
              <a:rPr lang="en-US" sz="5024" dirty="0">
                <a:solidFill>
                  <a:srgbClr val="37D8B8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5024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---</a:t>
            </a:r>
          </a:p>
          <a:p>
            <a:pPr algn="ctr">
              <a:lnSpc>
                <a:spcPts val="5188"/>
              </a:lnSpc>
            </a:pPr>
            <a:endParaRPr lang="en-US" sz="5024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5188"/>
              </a:lnSpc>
              <a:spcBef>
                <a:spcPct val="0"/>
              </a:spcBef>
            </a:pPr>
            <a:endParaRPr lang="en-US" sz="5024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857772" lvl="1" indent="-428886" algn="l">
              <a:lnSpc>
                <a:spcPts val="4767"/>
              </a:lnSpc>
              <a:buFont typeface="Arial"/>
              <a:buChar char="•"/>
            </a:pPr>
            <a:r>
              <a:rPr lang="en-US" sz="3973" b="1" dirty="0">
                <a:solidFill>
                  <a:srgbClr val="37D8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Entity Name</a:t>
            </a:r>
            <a:r>
              <a:rPr lang="en-US" sz="397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397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Prescription_Details</a:t>
            </a:r>
            <a:endParaRPr lang="en-US" sz="3973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767"/>
              </a:lnSpc>
            </a:pPr>
            <a:endParaRPr lang="en-US" sz="3973" dirty="0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4767"/>
              </a:lnSpc>
            </a:pPr>
            <a:r>
              <a:rPr lang="en-US" sz="397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857772" lvl="1" indent="-428886" algn="l">
              <a:lnSpc>
                <a:spcPts val="4767"/>
              </a:lnSpc>
              <a:buFont typeface="Arial"/>
              <a:buChar char="•"/>
            </a:pPr>
            <a:r>
              <a:rPr lang="en-US" sz="3973" b="1" dirty="0">
                <a:solidFill>
                  <a:srgbClr val="37D8B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Description</a:t>
            </a:r>
            <a:r>
              <a:rPr lang="en-US" sz="3973" dirty="0">
                <a:solidFill>
                  <a:srgbClr val="37D8B8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r>
              <a:rPr lang="en-US" sz="397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</a:t>
            </a:r>
            <a:r>
              <a:rPr lang="en-US" sz="3973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Prescription_Details</a:t>
            </a:r>
            <a:r>
              <a:rPr lang="en-US" sz="3973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entity stores line-item details of each prescription, linking specific medicines with their prescribed quantities. Acts as a junction/associative entity between Prescription and Medicine..</a:t>
            </a:r>
          </a:p>
        </p:txBody>
      </p:sp>
      <p:sp>
        <p:nvSpPr>
          <p:cNvPr id="5" name="Freeform 5"/>
          <p:cNvSpPr/>
          <p:nvPr/>
        </p:nvSpPr>
        <p:spPr>
          <a:xfrm>
            <a:off x="13234887" y="2926869"/>
            <a:ext cx="3283463" cy="3283463"/>
          </a:xfrm>
          <a:custGeom>
            <a:avLst/>
            <a:gdLst/>
            <a:ahLst/>
            <a:cxnLst/>
            <a:rect l="l" t="t" r="r" b="b"/>
            <a:pathLst>
              <a:path w="3283463" h="3283463">
                <a:moveTo>
                  <a:pt x="0" y="0"/>
                </a:moveTo>
                <a:lnTo>
                  <a:pt x="3283463" y="0"/>
                </a:lnTo>
                <a:lnTo>
                  <a:pt x="3283463" y="3283463"/>
                </a:lnTo>
                <a:lnTo>
                  <a:pt x="0" y="32834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143750" y="904875"/>
            <a:ext cx="10000499" cy="10052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1">
                <a:solidFill>
                  <a:srgbClr val="37D8B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Prescription_Details Entity 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245" y="342900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89256" y="3920252"/>
            <a:ext cx="3157780" cy="884132"/>
            <a:chOff x="0" y="0"/>
            <a:chExt cx="2678027" cy="749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8032" cy="749806"/>
            </a:xfrm>
            <a:custGeom>
              <a:avLst/>
              <a:gdLst/>
              <a:ahLst/>
              <a:cxnLst/>
              <a:rect l="l" t="t" r="r" b="b"/>
              <a:pathLst>
                <a:path w="2678032" h="749806">
                  <a:moveTo>
                    <a:pt x="0" y="0"/>
                  </a:moveTo>
                  <a:lnTo>
                    <a:pt x="2678032" y="0"/>
                  </a:lnTo>
                  <a:lnTo>
                    <a:pt x="2678032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33354" b="1168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78027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1840" y="3496868"/>
            <a:ext cx="16905029" cy="2559428"/>
            <a:chOff x="0" y="-321469"/>
            <a:chExt cx="22540038" cy="3412571"/>
          </a:xfrm>
        </p:grpSpPr>
        <p:grpSp>
          <p:nvGrpSpPr>
            <p:cNvPr id="9" name="Group 9"/>
            <p:cNvGrpSpPr/>
            <p:nvPr/>
          </p:nvGrpSpPr>
          <p:grpSpPr>
            <a:xfrm>
              <a:off x="10080104" y="249586"/>
              <a:ext cx="5405781" cy="2187223"/>
              <a:chOff x="-28134" y="-57150"/>
              <a:chExt cx="1067809" cy="43204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9675" cy="374894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374894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274872"/>
                    </a:lnTo>
                    <a:cubicBezTo>
                      <a:pt x="1039675" y="330113"/>
                      <a:pt x="994893" y="374894"/>
                      <a:pt x="939653" y="374894"/>
                    </a:cubicBezTo>
                    <a:lnTo>
                      <a:pt x="100022" y="374894"/>
                    </a:lnTo>
                    <a:cubicBezTo>
                      <a:pt x="44781" y="374894"/>
                      <a:pt x="0" y="330113"/>
                      <a:pt x="0" y="274872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-28134" y="-57150"/>
                <a:ext cx="1067809" cy="432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6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PRIMARY KEY/AUTO_INCREMENT</a:t>
                </a:r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259437" y="468316"/>
              <a:ext cx="1968494" cy="1968494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INT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detail_id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V="1">
              <a:off x="8075244" y="14144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633488" y="-321469"/>
              <a:ext cx="4906550" cy="3412571"/>
              <a:chOff x="0" y="-47625"/>
              <a:chExt cx="726896" cy="50556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26896" cy="457941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57941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102514"/>
                      <a:pt x="726896" y="228971"/>
                    </a:cubicBezTo>
                    <a:cubicBezTo>
                      <a:pt x="726896" y="355427"/>
                      <a:pt x="631965" y="457941"/>
                      <a:pt x="512141" y="457941"/>
                    </a:cubicBezTo>
                    <a:lnTo>
                      <a:pt x="39447" y="457941"/>
                    </a:lnTo>
                    <a:cubicBezTo>
                      <a:pt x="17661" y="457941"/>
                      <a:pt x="0" y="440280"/>
                      <a:pt x="0" y="418494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72D6FE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5400" y="-47625"/>
                <a:ext cx="584482" cy="50556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Unique identifier for each detail line (auto-generated)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721840" y="1404022"/>
            <a:ext cx="8193560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Attributes (1)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91457" y="6778623"/>
            <a:ext cx="16905029" cy="2376895"/>
            <a:chOff x="0" y="-122634"/>
            <a:chExt cx="22540038" cy="3169193"/>
          </a:xfrm>
        </p:grpSpPr>
        <p:grpSp>
          <p:nvGrpSpPr>
            <p:cNvPr id="26" name="Group 26"/>
            <p:cNvGrpSpPr/>
            <p:nvPr/>
          </p:nvGrpSpPr>
          <p:grpSpPr>
            <a:xfrm>
              <a:off x="10061503" y="243037"/>
              <a:ext cx="5806148" cy="2803522"/>
              <a:chOff x="-1" y="-10239"/>
              <a:chExt cx="1146894" cy="55378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133512" cy="503486"/>
              </a:xfrm>
              <a:custGeom>
                <a:avLst/>
                <a:gdLst/>
                <a:ahLst/>
                <a:cxnLst/>
                <a:rect l="l" t="t" r="r" b="b"/>
                <a:pathLst>
                  <a:path w="1133512" h="503486">
                    <a:moveTo>
                      <a:pt x="91742" y="0"/>
                    </a:moveTo>
                    <a:lnTo>
                      <a:pt x="1041770" y="0"/>
                    </a:lnTo>
                    <a:cubicBezTo>
                      <a:pt x="1092437" y="0"/>
                      <a:pt x="1133512" y="41074"/>
                      <a:pt x="1133512" y="91742"/>
                    </a:cubicBezTo>
                    <a:lnTo>
                      <a:pt x="1133512" y="411744"/>
                    </a:lnTo>
                    <a:cubicBezTo>
                      <a:pt x="1133512" y="462412"/>
                      <a:pt x="1092437" y="503486"/>
                      <a:pt x="1041770" y="503486"/>
                    </a:cubicBezTo>
                    <a:lnTo>
                      <a:pt x="91742" y="503486"/>
                    </a:lnTo>
                    <a:cubicBezTo>
                      <a:pt x="41074" y="503486"/>
                      <a:pt x="0" y="462412"/>
                      <a:pt x="0" y="411744"/>
                    </a:cubicBezTo>
                    <a:lnTo>
                      <a:pt x="0" y="91742"/>
                    </a:lnTo>
                    <a:cubicBezTo>
                      <a:pt x="0" y="41074"/>
                      <a:pt x="41074" y="0"/>
                      <a:pt x="9174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-1" y="-10239"/>
                <a:ext cx="1146894" cy="55378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700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FOREIGN KEY (references </a:t>
                </a:r>
                <a:r>
                  <a:rPr lang="en-US" sz="2700" dirty="0" err="1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Prescription.prescription_id</a:t>
                </a:r>
                <a:r>
                  <a:rPr lang="en-US" sz="2700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)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259437" y="468316"/>
              <a:ext cx="1968494" cy="196849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INT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699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prescription_id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8075244" y="14144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7633488" y="-122634"/>
              <a:ext cx="4906550" cy="3150394"/>
              <a:chOff x="0" y="-18168"/>
              <a:chExt cx="726896" cy="4667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26896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19100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93819"/>
                      <a:pt x="726896" y="209550"/>
                    </a:cubicBezTo>
                    <a:cubicBezTo>
                      <a:pt x="726896" y="325281"/>
                      <a:pt x="631965" y="419100"/>
                      <a:pt x="512141" y="419100"/>
                    </a:cubicBezTo>
                    <a:lnTo>
                      <a:pt x="39447" y="419100"/>
                    </a:lnTo>
                    <a:cubicBezTo>
                      <a:pt x="17661" y="419100"/>
                      <a:pt x="0" y="401439"/>
                      <a:pt x="0" y="379653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72D6FE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31402" y="-18168"/>
                <a:ext cx="608560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Links to the parent prescription header</a:t>
                </a:r>
              </a:p>
            </p:txBody>
          </p:sp>
        </p:grp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1589256" y="3920252"/>
            <a:ext cx="3157780" cy="884132"/>
            <a:chOff x="0" y="0"/>
            <a:chExt cx="2678027" cy="7498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678032" cy="749806"/>
            </a:xfrm>
            <a:custGeom>
              <a:avLst/>
              <a:gdLst/>
              <a:ahLst/>
              <a:cxnLst/>
              <a:rect l="l" t="t" r="r" b="b"/>
              <a:pathLst>
                <a:path w="2678032" h="749806">
                  <a:moveTo>
                    <a:pt x="0" y="0"/>
                  </a:moveTo>
                  <a:lnTo>
                    <a:pt x="2678032" y="0"/>
                  </a:lnTo>
                  <a:lnTo>
                    <a:pt x="2678032" y="749806"/>
                  </a:lnTo>
                  <a:lnTo>
                    <a:pt x="0" y="74980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4450" r="33354" b="1168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678027" cy="797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26"/>
                </a:lnSpc>
              </a:pPr>
              <a:r>
                <a:rPr lang="en-US" sz="2700">
                  <a:solidFill>
                    <a:srgbClr val="FFFFFF"/>
                  </a:solidFill>
                  <a:latin typeface="Alata"/>
                  <a:ea typeface="Alata"/>
                  <a:cs typeface="Alata"/>
                  <a:sym typeface="Alata"/>
                </a:rPr>
                <a:t>PRIMARY KEY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1840" y="3496868"/>
            <a:ext cx="16905029" cy="2373929"/>
            <a:chOff x="0" y="-321469"/>
            <a:chExt cx="22540038" cy="3165239"/>
          </a:xfrm>
        </p:grpSpPr>
        <p:grpSp>
          <p:nvGrpSpPr>
            <p:cNvPr id="9" name="Group 9"/>
            <p:cNvGrpSpPr/>
            <p:nvPr/>
          </p:nvGrpSpPr>
          <p:grpSpPr>
            <a:xfrm>
              <a:off x="10222847" y="104717"/>
              <a:ext cx="5263353" cy="2619490"/>
              <a:chOff x="0" y="0"/>
              <a:chExt cx="1039675" cy="51743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039675" cy="517430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517430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417408"/>
                    </a:lnTo>
                    <a:cubicBezTo>
                      <a:pt x="1039675" y="443936"/>
                      <a:pt x="1029137" y="469377"/>
                      <a:pt x="1010379" y="488134"/>
                    </a:cubicBezTo>
                    <a:cubicBezTo>
                      <a:pt x="991621" y="506892"/>
                      <a:pt x="966180" y="517430"/>
                      <a:pt x="939653" y="517430"/>
                    </a:cubicBezTo>
                    <a:lnTo>
                      <a:pt x="100022" y="517430"/>
                    </a:lnTo>
                    <a:cubicBezTo>
                      <a:pt x="44781" y="517430"/>
                      <a:pt x="0" y="472649"/>
                      <a:pt x="0" y="417408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0" y="-57150"/>
                <a:ext cx="1039675" cy="5745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70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FOREIGN KEY (references Medicine.medicine_id)</a:t>
                </a:r>
              </a:p>
            </p:txBody>
          </p:sp>
        </p:grpSp>
        <p:sp>
          <p:nvSpPr>
            <p:cNvPr id="12" name="AutoShape 12"/>
            <p:cNvSpPr/>
            <p:nvPr/>
          </p:nvSpPr>
          <p:spPr>
            <a:xfrm flipV="1">
              <a:off x="4111541" y="1439862"/>
              <a:ext cx="2284264" cy="127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6395805" y="404823"/>
              <a:ext cx="2140646" cy="2070079"/>
              <a:chOff x="0" y="0"/>
              <a:chExt cx="1093375" cy="105733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093375" cy="1057332"/>
              </a:xfrm>
              <a:custGeom>
                <a:avLst/>
                <a:gdLst/>
                <a:ahLst/>
                <a:cxnLst/>
                <a:rect l="l" t="t" r="r" b="b"/>
                <a:pathLst>
                  <a:path w="1093375" h="1057332">
                    <a:moveTo>
                      <a:pt x="546688" y="0"/>
                    </a:moveTo>
                    <a:cubicBezTo>
                      <a:pt x="244760" y="0"/>
                      <a:pt x="0" y="236692"/>
                      <a:pt x="0" y="528666"/>
                    </a:cubicBezTo>
                    <a:cubicBezTo>
                      <a:pt x="0" y="820640"/>
                      <a:pt x="244760" y="1057332"/>
                      <a:pt x="546688" y="1057332"/>
                    </a:cubicBezTo>
                    <a:cubicBezTo>
                      <a:pt x="848615" y="1057332"/>
                      <a:pt x="1093375" y="820640"/>
                      <a:pt x="1093375" y="528666"/>
                    </a:cubicBezTo>
                    <a:cubicBezTo>
                      <a:pt x="1093375" y="236692"/>
                      <a:pt x="848615" y="0"/>
                      <a:pt x="546688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2504" y="41975"/>
                <a:ext cx="888367" cy="91623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640"/>
                  </a:lnSpc>
                </a:pPr>
                <a:r>
                  <a:rPr lang="en-US" sz="2600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INT</a:t>
                </a: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medicine_id</a:t>
                </a:r>
              </a:p>
            </p:txBody>
          </p:sp>
        </p:grpSp>
        <p:sp>
          <p:nvSpPr>
            <p:cNvPr id="19" name="AutoShape 19"/>
            <p:cNvSpPr/>
            <p:nvPr/>
          </p:nvSpPr>
          <p:spPr>
            <a:xfrm flipV="1">
              <a:off x="8536451" y="1414462"/>
              <a:ext cx="1686397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20" name="AutoShape 20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7633488" y="-321469"/>
              <a:ext cx="4906550" cy="3150394"/>
              <a:chOff x="0" y="-47625"/>
              <a:chExt cx="726896" cy="4667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726896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19100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93819"/>
                      <a:pt x="726896" y="209550"/>
                    </a:cubicBezTo>
                    <a:cubicBezTo>
                      <a:pt x="726896" y="325281"/>
                      <a:pt x="631965" y="419100"/>
                      <a:pt x="512141" y="419100"/>
                    </a:cubicBezTo>
                    <a:lnTo>
                      <a:pt x="39447" y="419100"/>
                    </a:lnTo>
                    <a:cubicBezTo>
                      <a:pt x="17661" y="419100"/>
                      <a:pt x="0" y="401439"/>
                      <a:pt x="0" y="379653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72D6FE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5400" y="-47625"/>
                <a:ext cx="561909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Links to the specific medicine being prescribed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721840" y="1404022"/>
            <a:ext cx="8384156" cy="15144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Attributes (2)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91457" y="6629497"/>
            <a:ext cx="16905029" cy="2373929"/>
            <a:chOff x="0" y="-321469"/>
            <a:chExt cx="22540038" cy="3165239"/>
          </a:xfrm>
        </p:grpSpPr>
        <p:grpSp>
          <p:nvGrpSpPr>
            <p:cNvPr id="26" name="Group 26"/>
            <p:cNvGrpSpPr/>
            <p:nvPr/>
          </p:nvGrpSpPr>
          <p:grpSpPr>
            <a:xfrm>
              <a:off x="10222532" y="538908"/>
              <a:ext cx="5263353" cy="1897901"/>
              <a:chOff x="0" y="0"/>
              <a:chExt cx="1039675" cy="37489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39675" cy="374894"/>
              </a:xfrm>
              <a:custGeom>
                <a:avLst/>
                <a:gdLst/>
                <a:ahLst/>
                <a:cxnLst/>
                <a:rect l="l" t="t" r="r" b="b"/>
                <a:pathLst>
                  <a:path w="1039675" h="374894">
                    <a:moveTo>
                      <a:pt x="100022" y="0"/>
                    </a:moveTo>
                    <a:lnTo>
                      <a:pt x="939653" y="0"/>
                    </a:lnTo>
                    <a:cubicBezTo>
                      <a:pt x="994893" y="0"/>
                      <a:pt x="1039675" y="44781"/>
                      <a:pt x="1039675" y="100022"/>
                    </a:cubicBezTo>
                    <a:lnTo>
                      <a:pt x="1039675" y="274872"/>
                    </a:lnTo>
                    <a:cubicBezTo>
                      <a:pt x="1039675" y="330113"/>
                      <a:pt x="994893" y="374894"/>
                      <a:pt x="939653" y="374894"/>
                    </a:cubicBezTo>
                    <a:lnTo>
                      <a:pt x="100022" y="374894"/>
                    </a:lnTo>
                    <a:cubicBezTo>
                      <a:pt x="44781" y="374894"/>
                      <a:pt x="0" y="330113"/>
                      <a:pt x="0" y="274872"/>
                    </a:cubicBezTo>
                    <a:lnTo>
                      <a:pt x="0" y="100022"/>
                    </a:lnTo>
                    <a:cubicBezTo>
                      <a:pt x="0" y="44781"/>
                      <a:pt x="44781" y="0"/>
                      <a:pt x="100022" y="0"/>
                    </a:cubicBezTo>
                    <a:close/>
                  </a:path>
                </a:pathLst>
              </a:custGeom>
              <a:solidFill>
                <a:srgbClr val="C3D9FB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1039675" cy="4320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  <a:spcBef>
                    <a:spcPct val="0"/>
                  </a:spcBef>
                </a:pPr>
                <a:r>
                  <a:rPr lang="en-US" sz="270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NOT NULL</a:t>
                </a:r>
              </a:p>
            </p:txBody>
          </p:sp>
        </p:grpSp>
        <p:sp>
          <p:nvSpPr>
            <p:cNvPr id="29" name="AutoShape 29"/>
            <p:cNvSpPr/>
            <p:nvPr/>
          </p:nvSpPr>
          <p:spPr>
            <a:xfrm flipV="1">
              <a:off x="4111541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259437" y="468316"/>
              <a:ext cx="1968494" cy="196849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7F7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 i="1">
                    <a:solidFill>
                      <a:srgbClr val="000000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INT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0" y="411125"/>
              <a:ext cx="4111226" cy="2432645"/>
              <a:chOff x="0" y="0"/>
              <a:chExt cx="1201945" cy="7112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1201944" cy="711200"/>
              </a:xfrm>
              <a:custGeom>
                <a:avLst/>
                <a:gdLst/>
                <a:ahLst/>
                <a:cxnLst/>
                <a:rect l="l" t="t" r="r" b="b"/>
                <a:pathLst>
                  <a:path w="1201944" h="711200">
                    <a:moveTo>
                      <a:pt x="912886" y="0"/>
                    </a:moveTo>
                    <a:lnTo>
                      <a:pt x="282407" y="0"/>
                    </a:lnTo>
                    <a:cubicBezTo>
                      <a:pt x="126426" y="0"/>
                      <a:pt x="0" y="123512"/>
                      <a:pt x="0" y="275871"/>
                    </a:cubicBezTo>
                    <a:cubicBezTo>
                      <a:pt x="0" y="386169"/>
                      <a:pt x="66279" y="481310"/>
                      <a:pt x="162037" y="525451"/>
                    </a:cubicBezTo>
                    <a:lnTo>
                      <a:pt x="162037" y="711200"/>
                    </a:lnTo>
                    <a:lnTo>
                      <a:pt x="353844" y="551732"/>
                    </a:lnTo>
                    <a:lnTo>
                      <a:pt x="912886" y="551732"/>
                    </a:lnTo>
                    <a:cubicBezTo>
                      <a:pt x="1075507" y="551732"/>
                      <a:pt x="1201944" y="428220"/>
                      <a:pt x="1201944" y="275861"/>
                    </a:cubicBezTo>
                    <a:cubicBezTo>
                      <a:pt x="1201956" y="123512"/>
                      <a:pt x="1075507" y="0"/>
                      <a:pt x="912886" y="0"/>
                    </a:cubicBezTo>
                    <a:close/>
                  </a:path>
                </a:pathLst>
              </a:custGeom>
              <a:solidFill>
                <a:srgbClr val="7EACEC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19050"/>
                <a:ext cx="1201945" cy="539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779"/>
                  </a:lnSpc>
                </a:pPr>
                <a:r>
                  <a:rPr lang="en-US" sz="2700" b="1">
                    <a:solidFill>
                      <a:srgbClr val="000000"/>
                    </a:solidFill>
                    <a:latin typeface="Canva Sans Bold"/>
                    <a:ea typeface="Canva Sans Bold"/>
                    <a:cs typeface="Canva Sans Bold"/>
                    <a:sym typeface="Canva Sans Bold"/>
                  </a:rPr>
                  <a:t>quantity</a:t>
                </a:r>
              </a:p>
            </p:txBody>
          </p:sp>
        </p:grpSp>
        <p:sp>
          <p:nvSpPr>
            <p:cNvPr id="36" name="AutoShape 36"/>
            <p:cNvSpPr/>
            <p:nvPr/>
          </p:nvSpPr>
          <p:spPr>
            <a:xfrm flipV="1">
              <a:off x="8075244" y="14144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sp>
          <p:nvSpPr>
            <p:cNvPr id="37" name="AutoShape 37"/>
            <p:cNvSpPr/>
            <p:nvPr/>
          </p:nvSpPr>
          <p:spPr>
            <a:xfrm flipV="1">
              <a:off x="15486200" y="1427163"/>
              <a:ext cx="2045372" cy="25400"/>
            </a:xfrm>
            <a:prstGeom prst="line">
              <a:avLst/>
            </a:prstGeom>
            <a:ln w="50800" cap="flat">
              <a:solidFill>
                <a:srgbClr val="7EACEC"/>
              </a:solidFill>
              <a:prstDash val="sysDot"/>
              <a:headEnd type="none" w="sm" len="sm"/>
              <a:tailEnd type="arrow" w="med" len="sm"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17633488" y="-321469"/>
              <a:ext cx="4906550" cy="3150394"/>
              <a:chOff x="0" y="-47625"/>
              <a:chExt cx="726896" cy="46672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726896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726896" h="419100">
                    <a:moveTo>
                      <a:pt x="39447" y="0"/>
                    </a:moveTo>
                    <a:lnTo>
                      <a:pt x="512141" y="0"/>
                    </a:lnTo>
                    <a:cubicBezTo>
                      <a:pt x="631965" y="0"/>
                      <a:pt x="726896" y="93819"/>
                      <a:pt x="726896" y="209550"/>
                    </a:cubicBezTo>
                    <a:cubicBezTo>
                      <a:pt x="726896" y="325281"/>
                      <a:pt x="631965" y="419100"/>
                      <a:pt x="512141" y="419100"/>
                    </a:cubicBezTo>
                    <a:lnTo>
                      <a:pt x="39447" y="419100"/>
                    </a:lnTo>
                    <a:cubicBezTo>
                      <a:pt x="17661" y="419100"/>
                      <a:pt x="0" y="401439"/>
                      <a:pt x="0" y="379653"/>
                    </a:cubicBezTo>
                    <a:lnTo>
                      <a:pt x="0" y="39447"/>
                    </a:lnTo>
                    <a:cubicBezTo>
                      <a:pt x="0" y="17661"/>
                      <a:pt x="17661" y="0"/>
                      <a:pt x="39447" y="0"/>
                    </a:cubicBezTo>
                    <a:close/>
                  </a:path>
                </a:pathLst>
              </a:custGeom>
              <a:solidFill>
                <a:srgbClr val="72D6FE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25400" y="-47625"/>
                <a:ext cx="567911" cy="46672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499"/>
                  </a:lnSpc>
                </a:pPr>
                <a:r>
                  <a:rPr lang="en-US" sz="2499" dirty="0">
                    <a:solidFill>
                      <a:srgbClr val="000000"/>
                    </a:solidFill>
                    <a:latin typeface="Canva Sans"/>
                    <a:ea typeface="Canva Sans"/>
                    <a:cs typeface="Canva Sans"/>
                    <a:sym typeface="Canva Sans"/>
                  </a:rPr>
                  <a:t>Number of units of the medicine prescribed</a:t>
                </a:r>
              </a:p>
            </p:txBody>
          </p:sp>
        </p:grp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4374336" y="7409191"/>
            <a:ext cx="2216793" cy="397182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grpSp>
        <p:nvGrpSpPr>
          <p:cNvPr id="4" name="Group 4"/>
          <p:cNvGrpSpPr/>
          <p:nvPr/>
        </p:nvGrpSpPr>
        <p:grpSpPr>
          <a:xfrm>
            <a:off x="10871492" y="7715279"/>
            <a:ext cx="1345084" cy="1543021"/>
            <a:chOff x="0" y="0"/>
            <a:chExt cx="70853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08535" cy="812800"/>
            </a:xfrm>
            <a:custGeom>
              <a:avLst/>
              <a:gdLst/>
              <a:ahLst/>
              <a:cxnLst/>
              <a:rect l="l" t="t" r="r" b="b"/>
              <a:pathLst>
                <a:path w="708535" h="812800">
                  <a:moveTo>
                    <a:pt x="35426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05335" y="0"/>
                  </a:lnTo>
                  <a:lnTo>
                    <a:pt x="505335" y="406400"/>
                  </a:lnTo>
                  <a:lnTo>
                    <a:pt x="708535" y="406400"/>
                  </a:lnTo>
                  <a:lnTo>
                    <a:pt x="354267" y="812800"/>
                  </a:lnTo>
                  <a:close/>
                </a:path>
              </a:pathLst>
            </a:custGeom>
            <a:solidFill>
              <a:srgbClr val="7EACEC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03200" y="-38100"/>
              <a:ext cx="302135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-531315" y="5010150"/>
            <a:ext cx="6656595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9FCDFF"/>
                </a:solidFill>
                <a:latin typeface="Alata"/>
                <a:ea typeface="Alata"/>
                <a:cs typeface="Alata"/>
                <a:sym typeface="Alata"/>
              </a:rPr>
              <a:t>Foreign Key</a:t>
            </a:r>
          </a:p>
        </p:txBody>
      </p:sp>
      <p:sp>
        <p:nvSpPr>
          <p:cNvPr id="8" name="AutoShape 8"/>
          <p:cNvSpPr/>
          <p:nvPr/>
        </p:nvSpPr>
        <p:spPr>
          <a:xfrm flipH="1">
            <a:off x="5376759" y="2100042"/>
            <a:ext cx="2314767" cy="3483574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9" name="AutoShape 9"/>
          <p:cNvSpPr/>
          <p:nvPr/>
        </p:nvSpPr>
        <p:spPr>
          <a:xfrm flipH="1">
            <a:off x="10852442" y="2351968"/>
            <a:ext cx="0" cy="1029965"/>
          </a:xfrm>
          <a:prstGeom prst="line">
            <a:avLst/>
          </a:prstGeom>
          <a:ln w="38100" cap="flat">
            <a:solidFill>
              <a:srgbClr val="000000"/>
            </a:solidFill>
            <a:prstDash val="sysDot"/>
            <a:headEnd type="none" w="sm" len="sm"/>
            <a:tailEnd type="arrow" w="med" len="sm"/>
          </a:ln>
        </p:spPr>
      </p:sp>
      <p:grpSp>
        <p:nvGrpSpPr>
          <p:cNvPr id="10" name="Group 10"/>
          <p:cNvGrpSpPr/>
          <p:nvPr/>
        </p:nvGrpSpPr>
        <p:grpSpPr>
          <a:xfrm>
            <a:off x="11388488" y="4431984"/>
            <a:ext cx="1039406" cy="1192361"/>
            <a:chOff x="0" y="0"/>
            <a:chExt cx="708535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08535" cy="812800"/>
            </a:xfrm>
            <a:custGeom>
              <a:avLst/>
              <a:gdLst/>
              <a:ahLst/>
              <a:cxnLst/>
              <a:rect l="l" t="t" r="r" b="b"/>
              <a:pathLst>
                <a:path w="708535" h="812800">
                  <a:moveTo>
                    <a:pt x="354267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505335" y="0"/>
                  </a:lnTo>
                  <a:lnTo>
                    <a:pt x="505335" y="406400"/>
                  </a:lnTo>
                  <a:lnTo>
                    <a:pt x="708535" y="406400"/>
                  </a:lnTo>
                  <a:lnTo>
                    <a:pt x="354267" y="812800"/>
                  </a:lnTo>
                  <a:close/>
                </a:path>
              </a:pathLst>
            </a:custGeom>
            <a:solidFill>
              <a:srgbClr val="7EACE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203200" y="-38100"/>
              <a:ext cx="302135" cy="749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89002" y="6398273"/>
            <a:ext cx="3885334" cy="2740096"/>
            <a:chOff x="0" y="0"/>
            <a:chExt cx="1152514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52514" cy="812800"/>
            </a:xfrm>
            <a:custGeom>
              <a:avLst/>
              <a:gdLst/>
              <a:ahLst/>
              <a:cxnLst/>
              <a:rect l="l" t="t" r="r" b="b"/>
              <a:pathLst>
                <a:path w="1152514" h="812800">
                  <a:moveTo>
                    <a:pt x="576257" y="0"/>
                  </a:moveTo>
                  <a:cubicBezTo>
                    <a:pt x="257999" y="0"/>
                    <a:pt x="0" y="181951"/>
                    <a:pt x="0" y="406400"/>
                  </a:cubicBezTo>
                  <a:cubicBezTo>
                    <a:pt x="0" y="630849"/>
                    <a:pt x="257999" y="812800"/>
                    <a:pt x="576257" y="812800"/>
                  </a:cubicBezTo>
                  <a:cubicBezTo>
                    <a:pt x="894515" y="812800"/>
                    <a:pt x="1152514" y="630849"/>
                    <a:pt x="1152514" y="406400"/>
                  </a:cubicBezTo>
                  <a:cubicBezTo>
                    <a:pt x="1152514" y="181951"/>
                    <a:pt x="894515" y="0"/>
                    <a:pt x="576257" y="0"/>
                  </a:cubicBezTo>
                  <a:close/>
                </a:path>
              </a:pathLst>
            </a:custGeom>
            <a:solidFill>
              <a:srgbClr val="C3D9FB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08048" y="19050"/>
              <a:ext cx="936418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prescription_id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3158" y="1652241"/>
            <a:ext cx="5073601" cy="1152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6745" dirty="0">
                <a:solidFill>
                  <a:srgbClr val="9FCDFF"/>
                </a:solidFill>
                <a:latin typeface="Alata"/>
                <a:ea typeface="Alata"/>
                <a:cs typeface="Alata"/>
                <a:sym typeface="Alata"/>
              </a:rPr>
              <a:t>Primary Key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9002" y="3282019"/>
            <a:ext cx="4875507" cy="762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58"/>
              </a:lnSpc>
            </a:pPr>
            <a:r>
              <a:rPr lang="en-US" sz="447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4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</a:t>
            </a:r>
            <a:r>
              <a:rPr lang="en-US" sz="447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detail_id</a:t>
            </a:r>
            <a:r>
              <a:rPr lang="en-US" sz="44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447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71002" y="6799063"/>
            <a:ext cx="10609841" cy="762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Reference:</a:t>
            </a:r>
            <a:r>
              <a:rPr lang="en-US" sz="44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Prescription(</a:t>
            </a:r>
            <a:r>
              <a:rPr lang="en-US" sz="447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prescription_id</a:t>
            </a:r>
            <a:r>
              <a:rPr lang="en-US" sz="44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08568" y="9286875"/>
            <a:ext cx="11670932" cy="67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details belong to one prescription </a:t>
            </a:r>
            <a:r>
              <a:rPr lang="en-US" sz="3870" i="1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(Many-to-One)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99507" y="3555412"/>
            <a:ext cx="8877201" cy="7627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sz="4470" b="1" dirty="0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Reference:</a:t>
            </a:r>
            <a:r>
              <a:rPr lang="en-US" sz="4470" i="1" dirty="0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 </a:t>
            </a:r>
            <a:r>
              <a:rPr lang="en-US" sz="44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Medicine(</a:t>
            </a:r>
            <a:r>
              <a:rPr lang="en-US" sz="4470" dirty="0" err="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medicine_id</a:t>
            </a:r>
            <a:r>
              <a:rPr lang="en-US" sz="4470" dirty="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104963" y="5567998"/>
            <a:ext cx="13606457" cy="673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18"/>
              </a:lnSpc>
            </a:pPr>
            <a:r>
              <a:rPr lang="en-US" sz="38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Many details can reference one medicine </a:t>
            </a:r>
            <a:r>
              <a:rPr lang="en-US" sz="3870" i="1">
                <a:solidFill>
                  <a:srgbClr val="000000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(Many-to-One)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7691526" y="834944"/>
            <a:ext cx="3663203" cy="1927865"/>
            <a:chOff x="0" y="0"/>
            <a:chExt cx="154443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44430" cy="812800"/>
            </a:xfrm>
            <a:custGeom>
              <a:avLst/>
              <a:gdLst/>
              <a:ahLst/>
              <a:cxnLst/>
              <a:rect l="l" t="t" r="r" b="b"/>
              <a:pathLst>
                <a:path w="1544430" h="812800">
                  <a:moveTo>
                    <a:pt x="772215" y="0"/>
                  </a:moveTo>
                  <a:cubicBezTo>
                    <a:pt x="345732" y="0"/>
                    <a:pt x="0" y="181951"/>
                    <a:pt x="0" y="406400"/>
                  </a:cubicBezTo>
                  <a:cubicBezTo>
                    <a:pt x="0" y="630849"/>
                    <a:pt x="345732" y="812800"/>
                    <a:pt x="772215" y="812800"/>
                  </a:cubicBezTo>
                  <a:cubicBezTo>
                    <a:pt x="1198697" y="812800"/>
                    <a:pt x="1544430" y="630849"/>
                    <a:pt x="1544430" y="406400"/>
                  </a:cubicBezTo>
                  <a:cubicBezTo>
                    <a:pt x="1544430" y="181951"/>
                    <a:pt x="1198697" y="0"/>
                    <a:pt x="772215" y="0"/>
                  </a:cubicBezTo>
                  <a:close/>
                </a:path>
              </a:pathLst>
            </a:custGeom>
            <a:solidFill>
              <a:srgbClr val="C3D9FB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44790" y="19050"/>
              <a:ext cx="1254849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79"/>
                </a:lnSpc>
              </a:pPr>
              <a:r>
                <a:rPr lang="en-US" sz="3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medicine_id</a:t>
              </a:r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20458" y="648300"/>
            <a:ext cx="4667760" cy="1170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 b="1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Constraints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30972" y="2709301"/>
            <a:ext cx="3957520" cy="5135618"/>
            <a:chOff x="0" y="0"/>
            <a:chExt cx="5276693" cy="6847491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5276693" cy="2057400"/>
              <a:chOff x="0" y="0"/>
              <a:chExt cx="1042310" cy="4064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04231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310" h="406400">
                    <a:moveTo>
                      <a:pt x="839110" y="0"/>
                    </a:moveTo>
                    <a:cubicBezTo>
                      <a:pt x="951334" y="0"/>
                      <a:pt x="1042310" y="90976"/>
                      <a:pt x="1042310" y="203200"/>
                    </a:cubicBezTo>
                    <a:cubicBezTo>
                      <a:pt x="1042310" y="315424"/>
                      <a:pt x="951334" y="406400"/>
                      <a:pt x="8391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F4A8A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57150"/>
                <a:ext cx="104231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79"/>
                  </a:lnSpc>
                </a:pPr>
                <a:r>
                  <a:rPr lang="en-US" sz="3199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PRIMARY KEY</a:t>
                </a:r>
              </a:p>
            </p:txBody>
          </p:sp>
        </p:grpSp>
        <p:sp>
          <p:nvSpPr>
            <p:cNvPr id="7" name="AutoShape 7"/>
            <p:cNvSpPr/>
            <p:nvPr/>
          </p:nvSpPr>
          <p:spPr>
            <a:xfrm flipH="1">
              <a:off x="2573202" y="2057400"/>
              <a:ext cx="65144" cy="273269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oval" w="lg" len="lg"/>
              <a:tailEnd type="oval" w="lg" len="lg"/>
            </a:ln>
          </p:spPr>
        </p:sp>
        <p:grpSp>
          <p:nvGrpSpPr>
            <p:cNvPr id="8" name="Group 8"/>
            <p:cNvGrpSpPr/>
            <p:nvPr/>
          </p:nvGrpSpPr>
          <p:grpSpPr>
            <a:xfrm>
              <a:off x="0" y="4790091"/>
              <a:ext cx="5276693" cy="2057400"/>
              <a:chOff x="0" y="0"/>
              <a:chExt cx="1042310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04231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310" h="406400">
                    <a:moveTo>
                      <a:pt x="839110" y="0"/>
                    </a:moveTo>
                    <a:cubicBezTo>
                      <a:pt x="951334" y="0"/>
                      <a:pt x="1042310" y="90976"/>
                      <a:pt x="1042310" y="203200"/>
                    </a:cubicBezTo>
                    <a:cubicBezTo>
                      <a:pt x="1042310" y="315424"/>
                      <a:pt x="951334" y="406400"/>
                      <a:pt x="83911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9FCD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1042310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AUTO_INCREMENT</a:t>
                </a:r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6400528" y="8486775"/>
            <a:ext cx="4907619" cy="1543050"/>
            <a:chOff x="0" y="0"/>
            <a:chExt cx="1292542" cy="4064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92542" cy="406400"/>
            </a:xfrm>
            <a:custGeom>
              <a:avLst/>
              <a:gdLst/>
              <a:ahLst/>
              <a:cxnLst/>
              <a:rect l="l" t="t" r="r" b="b"/>
              <a:pathLst>
                <a:path w="1292542" h="406400">
                  <a:moveTo>
                    <a:pt x="1089342" y="0"/>
                  </a:moveTo>
                  <a:cubicBezTo>
                    <a:pt x="1201566" y="0"/>
                    <a:pt x="1292542" y="90976"/>
                    <a:pt x="1292542" y="203200"/>
                  </a:cubicBezTo>
                  <a:cubicBezTo>
                    <a:pt x="1292542" y="315424"/>
                    <a:pt x="1201566" y="406400"/>
                    <a:pt x="108934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8DBC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1292542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r>
                <a:rPr lang="en-US" sz="3200" i="1">
                  <a:solidFill>
                    <a:srgbClr val="FFFFFF"/>
                  </a:solidFill>
                  <a:latin typeface="Canva Sans Italics"/>
                  <a:ea typeface="Canva Sans Italics"/>
                  <a:cs typeface="Canva Sans Italics"/>
                  <a:sym typeface="Canva Sans Italics"/>
                </a:rPr>
                <a:t>ON DELETE CASCADE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950004" y="3144859"/>
            <a:ext cx="1974822" cy="62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4"/>
              </a:lnSpc>
              <a:spcBef>
                <a:spcPct val="0"/>
              </a:spcBef>
            </a:pPr>
            <a:r>
              <a:rPr lang="en-US" sz="3645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detail_id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50004" y="6697840"/>
            <a:ext cx="1974822" cy="621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4"/>
              </a:lnSpc>
              <a:spcBef>
                <a:spcPct val="0"/>
              </a:spcBef>
            </a:pPr>
            <a:r>
              <a:rPr lang="en-US" sz="3645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detail_id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3302276" y="2709301"/>
            <a:ext cx="3957024" cy="5135618"/>
            <a:chOff x="0" y="0"/>
            <a:chExt cx="5276033" cy="6847491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5276033" cy="2057400"/>
              <a:chOff x="0" y="0"/>
              <a:chExt cx="1042179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4217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179" h="406400">
                    <a:moveTo>
                      <a:pt x="838979" y="0"/>
                    </a:moveTo>
                    <a:cubicBezTo>
                      <a:pt x="951204" y="0"/>
                      <a:pt x="1042179" y="90976"/>
                      <a:pt x="1042179" y="203200"/>
                    </a:cubicBezTo>
                    <a:cubicBezTo>
                      <a:pt x="1042179" y="315424"/>
                      <a:pt x="951204" y="406400"/>
                      <a:pt x="83897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9FCDF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1042179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NOT NULL</a:t>
                </a:r>
              </a:p>
            </p:txBody>
          </p:sp>
        </p:grpSp>
        <p:sp>
          <p:nvSpPr>
            <p:cNvPr id="20" name="AutoShape 20"/>
            <p:cNvSpPr/>
            <p:nvPr/>
          </p:nvSpPr>
          <p:spPr>
            <a:xfrm flipH="1">
              <a:off x="2572880" y="2057400"/>
              <a:ext cx="65136" cy="2732691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oval" w="lg" len="lg"/>
              <a:tailEnd type="oval" w="lg" len="lg"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0" y="4790091"/>
              <a:ext cx="5276033" cy="2057400"/>
              <a:chOff x="0" y="0"/>
              <a:chExt cx="1042179" cy="4064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1042179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179" h="406400">
                    <a:moveTo>
                      <a:pt x="838979" y="0"/>
                    </a:moveTo>
                    <a:cubicBezTo>
                      <a:pt x="951204" y="0"/>
                      <a:pt x="1042179" y="90976"/>
                      <a:pt x="1042179" y="203200"/>
                    </a:cubicBezTo>
                    <a:cubicBezTo>
                      <a:pt x="1042179" y="315424"/>
                      <a:pt x="951204" y="406400"/>
                      <a:pt x="838979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2F4A8A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0" y="-57150"/>
                <a:ext cx="1042179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480"/>
                  </a:lnSpc>
                </a:pPr>
                <a:r>
                  <a:rPr lang="en-US" sz="3200" i="1">
                    <a:solidFill>
                      <a:srgbClr val="FFFFFF"/>
                    </a:solidFill>
                    <a:latin typeface="Canva Sans Italics"/>
                    <a:ea typeface="Canva Sans Italics"/>
                    <a:cs typeface="Canva Sans Italics"/>
                    <a:sym typeface="Canva Sans Italics"/>
                  </a:rPr>
                  <a:t>FOREIGN KEY</a:t>
                </a:r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10965942" y="3144859"/>
            <a:ext cx="2116008" cy="6217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04"/>
              </a:lnSpc>
            </a:pPr>
            <a:r>
              <a:rPr lang="en-US" sz="3645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quantity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39200" y="6575451"/>
            <a:ext cx="4242750" cy="12694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87156" lvl="1" indent="-393578" algn="l">
              <a:lnSpc>
                <a:spcPts val="5104"/>
              </a:lnSpc>
              <a:buFont typeface="Arial"/>
              <a:buChar char="•"/>
            </a:pPr>
            <a:r>
              <a:rPr lang="en-US" sz="3645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prescription_id</a:t>
            </a:r>
            <a:endParaRPr lang="en-US" sz="3645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  <a:p>
            <a:pPr marL="787156" lvl="1" indent="-393578" algn="l">
              <a:lnSpc>
                <a:spcPts val="5104"/>
              </a:lnSpc>
              <a:buFont typeface="Arial"/>
              <a:buChar char="•"/>
            </a:pPr>
            <a:r>
              <a:rPr lang="en-US" sz="3645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medicine_id</a:t>
            </a:r>
            <a:endParaRPr lang="en-US" sz="3645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26" name="Freeform 26"/>
          <p:cNvSpPr/>
          <p:nvPr/>
        </p:nvSpPr>
        <p:spPr>
          <a:xfrm>
            <a:off x="11845904" y="316329"/>
            <a:ext cx="1745804" cy="1534125"/>
          </a:xfrm>
          <a:custGeom>
            <a:avLst/>
            <a:gdLst/>
            <a:ahLst/>
            <a:cxnLst/>
            <a:rect l="l" t="t" r="r" b="b"/>
            <a:pathLst>
              <a:path w="1745804" h="1534125">
                <a:moveTo>
                  <a:pt x="0" y="0"/>
                </a:moveTo>
                <a:lnTo>
                  <a:pt x="1745803" y="0"/>
                </a:lnTo>
                <a:lnTo>
                  <a:pt x="1745803" y="1534125"/>
                </a:lnTo>
                <a:lnTo>
                  <a:pt x="0" y="1534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4077102" y="295169"/>
            <a:ext cx="1745804" cy="1534125"/>
          </a:xfrm>
          <a:custGeom>
            <a:avLst/>
            <a:gdLst/>
            <a:ahLst/>
            <a:cxnLst/>
            <a:rect l="l" t="t" r="r" b="b"/>
            <a:pathLst>
              <a:path w="1745804" h="1534125">
                <a:moveTo>
                  <a:pt x="0" y="0"/>
                </a:moveTo>
                <a:lnTo>
                  <a:pt x="1745803" y="0"/>
                </a:lnTo>
                <a:lnTo>
                  <a:pt x="1745803" y="1534125"/>
                </a:lnTo>
                <a:lnTo>
                  <a:pt x="0" y="1534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8600" y="2933700"/>
            <a:ext cx="18971528" cy="5438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88"/>
              </a:lnSpc>
              <a:spcBef>
                <a:spcPct val="0"/>
              </a:spcBef>
            </a:pPr>
            <a:r>
              <a:rPr lang="en-US" sz="3848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Prescription_Details</a:t>
            </a: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(</a:t>
            </a:r>
          </a:p>
          <a:p>
            <a:pPr algn="l">
              <a:lnSpc>
                <a:spcPts val="5388"/>
              </a:lnSpc>
              <a:spcBef>
                <a:spcPct val="0"/>
              </a:spcBef>
            </a:pP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3848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detail_id</a:t>
            </a: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INT [PK, AUTO_INCREMENT],</a:t>
            </a:r>
          </a:p>
          <a:p>
            <a:pPr algn="l">
              <a:lnSpc>
                <a:spcPts val="5388"/>
              </a:lnSpc>
              <a:spcBef>
                <a:spcPct val="0"/>
              </a:spcBef>
            </a:pP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3848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prescription_id</a:t>
            </a: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INT [FK → </a:t>
            </a:r>
            <a:r>
              <a:rPr lang="en-US" sz="3848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Prescription.prescription_id</a:t>
            </a: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, ON DELETE CASCADE],</a:t>
            </a:r>
          </a:p>
          <a:p>
            <a:pPr algn="l">
              <a:lnSpc>
                <a:spcPts val="5388"/>
              </a:lnSpc>
              <a:spcBef>
                <a:spcPct val="0"/>
              </a:spcBef>
            </a:pP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</a:t>
            </a:r>
            <a:r>
              <a:rPr lang="en-US" sz="3848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medicine_id</a:t>
            </a: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: INT [FK → </a:t>
            </a:r>
            <a:r>
              <a:rPr lang="en-US" sz="3848" dirty="0" err="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Medicine.medicine_id</a:t>
            </a: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],</a:t>
            </a:r>
          </a:p>
          <a:p>
            <a:pPr algn="l">
              <a:lnSpc>
                <a:spcPts val="5388"/>
              </a:lnSpc>
              <a:spcBef>
                <a:spcPct val="0"/>
              </a:spcBef>
            </a:pP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    quantity: INT [NOT NULL]</a:t>
            </a:r>
          </a:p>
          <a:p>
            <a:pPr algn="l">
              <a:lnSpc>
                <a:spcPts val="5388"/>
              </a:lnSpc>
              <a:spcBef>
                <a:spcPct val="0"/>
              </a:spcBef>
            </a:pPr>
            <a:r>
              <a:rPr lang="en-US" sz="3848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)</a:t>
            </a:r>
          </a:p>
          <a:p>
            <a:pPr algn="l">
              <a:lnSpc>
                <a:spcPts val="5388"/>
              </a:lnSpc>
              <a:spcBef>
                <a:spcPct val="0"/>
              </a:spcBef>
            </a:pPr>
            <a:endParaRPr lang="en-US" sz="3848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  <a:p>
            <a:pPr algn="l">
              <a:lnSpc>
                <a:spcPts val="5388"/>
              </a:lnSpc>
              <a:spcBef>
                <a:spcPct val="0"/>
              </a:spcBef>
            </a:pPr>
            <a:endParaRPr lang="en-US" sz="3848" dirty="0">
              <a:solidFill>
                <a:srgbClr val="2F4A8A"/>
              </a:solidFill>
              <a:latin typeface="Alata"/>
              <a:ea typeface="Alata"/>
              <a:cs typeface="Alata"/>
              <a:sym typeface="Alata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-3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78986" y="5890351"/>
            <a:ext cx="4027312" cy="3595291"/>
          </a:xfrm>
          <a:custGeom>
            <a:avLst/>
            <a:gdLst/>
            <a:ahLst/>
            <a:cxnLst/>
            <a:rect l="l" t="t" r="r" b="b"/>
            <a:pathLst>
              <a:path w="4027312" h="3595291">
                <a:moveTo>
                  <a:pt x="0" y="0"/>
                </a:moveTo>
                <a:lnTo>
                  <a:pt x="4027312" y="0"/>
                </a:lnTo>
                <a:lnTo>
                  <a:pt x="4027312" y="3595291"/>
                </a:lnTo>
                <a:lnTo>
                  <a:pt x="0" y="3595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086237" y="885825"/>
            <a:ext cx="8172563" cy="11705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507"/>
              </a:lnSpc>
            </a:pPr>
            <a:r>
              <a:rPr lang="en-US" sz="6791" b="1" dirty="0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Relational Schema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640052"/>
            <a:ext cx="9144000" cy="7006897"/>
          </a:xfrm>
          <a:custGeom>
            <a:avLst/>
            <a:gdLst/>
            <a:ahLst/>
            <a:cxnLst/>
            <a:rect l="l" t="t" r="r" b="b"/>
            <a:pathLst>
              <a:path w="9144000" h="7006897">
                <a:moveTo>
                  <a:pt x="0" y="0"/>
                </a:moveTo>
                <a:lnTo>
                  <a:pt x="9144000" y="0"/>
                </a:lnTo>
                <a:lnTo>
                  <a:pt x="9144000" y="7006896"/>
                </a:lnTo>
                <a:lnTo>
                  <a:pt x="0" y="7006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1167139" y="542754"/>
            <a:ext cx="5649572" cy="9201491"/>
            <a:chOff x="0" y="0"/>
            <a:chExt cx="7532762" cy="122686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532762" cy="9136628"/>
            </a:xfrm>
            <a:custGeom>
              <a:avLst/>
              <a:gdLst/>
              <a:ahLst/>
              <a:cxnLst/>
              <a:rect l="l" t="t" r="r" b="b"/>
              <a:pathLst>
                <a:path w="7532762" h="9136628">
                  <a:moveTo>
                    <a:pt x="0" y="0"/>
                  </a:moveTo>
                  <a:lnTo>
                    <a:pt x="7532762" y="0"/>
                  </a:lnTo>
                  <a:lnTo>
                    <a:pt x="7532762" y="9136628"/>
                  </a:lnTo>
                  <a:lnTo>
                    <a:pt x="0" y="91366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9136628"/>
              <a:ext cx="2512505" cy="3132027"/>
            </a:xfrm>
            <a:custGeom>
              <a:avLst/>
              <a:gdLst/>
              <a:ahLst/>
              <a:cxnLst/>
              <a:rect l="l" t="t" r="r" b="b"/>
              <a:pathLst>
                <a:path w="2512505" h="3132027">
                  <a:moveTo>
                    <a:pt x="0" y="0"/>
                  </a:moveTo>
                  <a:lnTo>
                    <a:pt x="2512505" y="0"/>
                  </a:lnTo>
                  <a:lnTo>
                    <a:pt x="2512505" y="3132027"/>
                  </a:lnTo>
                  <a:lnTo>
                    <a:pt x="0" y="3132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42562" y="3538566"/>
            <a:ext cx="681780" cy="357826"/>
          </a:xfrm>
          <a:custGeom>
            <a:avLst/>
            <a:gdLst/>
            <a:ahLst/>
            <a:cxnLst/>
            <a:rect l="l" t="t" r="r" b="b"/>
            <a:pathLst>
              <a:path w="681780" h="357826">
                <a:moveTo>
                  <a:pt x="0" y="0"/>
                </a:moveTo>
                <a:lnTo>
                  <a:pt x="681780" y="0"/>
                </a:lnTo>
                <a:lnTo>
                  <a:pt x="681780" y="357826"/>
                </a:lnTo>
                <a:lnTo>
                  <a:pt x="0" y="3578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259056" y="1734519"/>
            <a:ext cx="6827237" cy="6817961"/>
          </a:xfrm>
          <a:custGeom>
            <a:avLst/>
            <a:gdLst/>
            <a:ahLst/>
            <a:cxnLst/>
            <a:rect l="l" t="t" r="r" b="b"/>
            <a:pathLst>
              <a:path w="6827237" h="6817961">
                <a:moveTo>
                  <a:pt x="0" y="0"/>
                </a:moveTo>
                <a:lnTo>
                  <a:pt x="6827237" y="0"/>
                </a:lnTo>
                <a:lnTo>
                  <a:pt x="6827237" y="6817962"/>
                </a:lnTo>
                <a:lnTo>
                  <a:pt x="0" y="6817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19201" y="2506827"/>
            <a:ext cx="4528348" cy="4689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288"/>
              </a:lnSpc>
            </a:pPr>
            <a:r>
              <a:rPr lang="en-US" sz="27349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07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76195" y="2546374"/>
            <a:ext cx="7193854" cy="4619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5"/>
              </a:lnSpc>
            </a:pPr>
            <a:r>
              <a:rPr lang="en-US" sz="27004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Bill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0" y="4531227"/>
            <a:ext cx="5481616" cy="857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09040" lvl="1" indent="-604520" algn="l">
              <a:lnSpc>
                <a:spcPts val="6719"/>
              </a:lnSpc>
              <a:buFont typeface="Arial"/>
              <a:buChar char="•"/>
            </a:pPr>
            <a:r>
              <a:rPr lang="en-US" sz="55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Entity Name: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81616" y="4674146"/>
            <a:ext cx="5695444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472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Bill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51094" y="6529545"/>
            <a:ext cx="10755694" cy="2046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1"/>
              </a:lnSpc>
            </a:pPr>
            <a:r>
              <a:rPr lang="en-US" sz="3417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The Bill entity stores financial information generated after a patient purchases prescribed medicines. It includes tax, discount, and total amount.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311060" y="2998390"/>
            <a:ext cx="7922332" cy="81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</a:pPr>
            <a:r>
              <a:rPr lang="en-US" sz="54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Conceptual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387645" y="1356858"/>
            <a:ext cx="3646069" cy="97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en-US" sz="64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Bill Entity 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386081" y="2586040"/>
            <a:ext cx="3515838" cy="9517"/>
          </a:xfrm>
          <a:prstGeom prst="line">
            <a:avLst/>
          </a:prstGeom>
          <a:ln w="19050" cap="rnd">
            <a:solidFill>
              <a:srgbClr val="2F4A8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-48" y="6112421"/>
            <a:ext cx="6841550" cy="1237661"/>
            <a:chOff x="0" y="0"/>
            <a:chExt cx="9122067" cy="165021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122070" cy="1650210"/>
            </a:xfrm>
            <a:custGeom>
              <a:avLst/>
              <a:gdLst/>
              <a:ahLst/>
              <a:cxnLst/>
              <a:rect l="l" t="t" r="r" b="b"/>
              <a:pathLst>
                <a:path w="9122070" h="1650210">
                  <a:moveTo>
                    <a:pt x="0" y="0"/>
                  </a:moveTo>
                  <a:lnTo>
                    <a:pt x="9122070" y="0"/>
                  </a:lnTo>
                  <a:lnTo>
                    <a:pt x="9122070" y="1650210"/>
                  </a:lnTo>
                  <a:lnTo>
                    <a:pt x="0" y="165021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8694" r="64855" b="5563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9122067" cy="1650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1144275" lvl="1" indent="-572138" algn="l">
                <a:lnSpc>
                  <a:spcPts val="6360"/>
                </a:lnSpc>
                <a:buFont typeface="Arial"/>
                <a:buChar char="•"/>
              </a:pPr>
              <a:r>
                <a:rPr lang="en-US" sz="5300">
                  <a:solidFill>
                    <a:srgbClr val="2F4A8A"/>
                  </a:solidFill>
                  <a:latin typeface="Alata"/>
                  <a:ea typeface="Alata"/>
                  <a:cs typeface="Alata"/>
                  <a:sym typeface="Alata"/>
                </a:rPr>
                <a:t>Descreption:  </a:t>
              </a: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2891668" flipH="1">
            <a:off x="10199217" y="2482033"/>
            <a:ext cx="1380834" cy="795862"/>
          </a:xfrm>
          <a:custGeom>
            <a:avLst/>
            <a:gdLst/>
            <a:ahLst/>
            <a:cxnLst/>
            <a:rect l="l" t="t" r="r" b="b"/>
            <a:pathLst>
              <a:path w="1380834" h="795862">
                <a:moveTo>
                  <a:pt x="1380834" y="0"/>
                </a:moveTo>
                <a:lnTo>
                  <a:pt x="0" y="0"/>
                </a:lnTo>
                <a:lnTo>
                  <a:pt x="0" y="795862"/>
                </a:lnTo>
                <a:lnTo>
                  <a:pt x="1380834" y="795862"/>
                </a:lnTo>
                <a:lnTo>
                  <a:pt x="138083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73090" y="1453070"/>
            <a:ext cx="4047786" cy="1160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4"/>
              </a:lnSpc>
            </a:pPr>
            <a:r>
              <a:rPr lang="en-US" sz="6745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Attributes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348451" y="1459897"/>
            <a:ext cx="6656595" cy="1153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9"/>
              </a:lnSpc>
            </a:pPr>
            <a:r>
              <a:rPr lang="en-US" sz="669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Primary Key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79855" y="6853162"/>
            <a:ext cx="6131346" cy="94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83"/>
              </a:lnSpc>
            </a:pPr>
            <a:r>
              <a:rPr lang="en-US" sz="555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Relational schema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3090" y="3189584"/>
            <a:ext cx="4875507" cy="3511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3"/>
              </a:lnSpc>
            </a:pPr>
            <a:r>
              <a:rPr lang="en-US" sz="498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98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bill_id </a:t>
            </a:r>
          </a:p>
          <a:p>
            <a:pPr algn="l">
              <a:lnSpc>
                <a:spcPts val="6983"/>
              </a:lnSpc>
            </a:pPr>
            <a:r>
              <a:rPr lang="en-US" sz="498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tax </a:t>
            </a:r>
          </a:p>
          <a:p>
            <a:pPr algn="l">
              <a:lnSpc>
                <a:spcPts val="6983"/>
              </a:lnSpc>
            </a:pPr>
            <a:r>
              <a:rPr lang="en-US" sz="498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discount </a:t>
            </a:r>
          </a:p>
          <a:p>
            <a:pPr algn="l">
              <a:lnSpc>
                <a:spcPts val="6983"/>
              </a:lnSpc>
            </a:pPr>
            <a:r>
              <a:rPr lang="en-US" sz="498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total </a:t>
            </a:r>
            <a:r>
              <a:rPr lang="en-US" sz="498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15021" y="8327647"/>
            <a:ext cx="11457900" cy="930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92"/>
              </a:lnSpc>
            </a:pPr>
            <a:r>
              <a:rPr lang="en-US" sz="5423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</a:t>
            </a:r>
            <a:r>
              <a:rPr lang="en-US" sz="54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BILL ( bill_id PK, tax, discount, total ) </a:t>
            </a:r>
            <a:r>
              <a:rPr lang="en-US" sz="5423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42927" y="2987877"/>
            <a:ext cx="2867642" cy="84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58"/>
              </a:lnSpc>
            </a:pPr>
            <a:r>
              <a:rPr lang="en-US" sz="497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• bill_id  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05393"/>
            <a:ext cx="4838700" cy="11445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367"/>
              </a:lnSpc>
            </a:pPr>
            <a:r>
              <a:rPr lang="en-US" sz="6691" b="1" dirty="0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constraints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6113" y="2784278"/>
            <a:ext cx="8852926" cy="4489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55"/>
              </a:lnSpc>
            </a:pPr>
            <a:r>
              <a:rPr lang="en-US" sz="400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 </a:t>
            </a:r>
            <a:r>
              <a:rPr lang="en-US" sz="4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Primary Key: bill_id </a:t>
            </a:r>
          </a:p>
          <a:p>
            <a:pPr algn="l">
              <a:lnSpc>
                <a:spcPts val="7255"/>
              </a:lnSpc>
            </a:pPr>
            <a:endParaRPr lang="en-US" sz="4008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7255"/>
              </a:lnSpc>
            </a:pPr>
            <a:r>
              <a:rPr lang="en-US" sz="4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AUTO_INCREMENT: bill_id </a:t>
            </a:r>
          </a:p>
          <a:p>
            <a:pPr algn="l">
              <a:lnSpc>
                <a:spcPts val="7255"/>
              </a:lnSpc>
            </a:pPr>
            <a:endParaRPr lang="en-US" sz="4008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l">
              <a:lnSpc>
                <a:spcPts val="7255"/>
              </a:lnSpc>
            </a:pPr>
            <a:r>
              <a:rPr lang="en-US" sz="4008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 NOT NULL:  bill_id  </a:t>
            </a:r>
            <a:r>
              <a:rPr lang="en-US" sz="4008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15476" y="2555799"/>
            <a:ext cx="8972634" cy="5802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66"/>
              </a:lnSpc>
            </a:pPr>
            <a:endParaRPr/>
          </a:p>
          <a:p>
            <a:pPr algn="just">
              <a:lnSpc>
                <a:spcPts val="5166"/>
              </a:lnSpc>
            </a:pPr>
            <a:r>
              <a:rPr lang="en-US" sz="36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 Bill entity is related to the Prescription entity.</a:t>
            </a:r>
          </a:p>
          <a:p>
            <a:pPr algn="just">
              <a:lnSpc>
                <a:spcPts val="5166"/>
              </a:lnSpc>
            </a:pPr>
            <a:endParaRPr lang="en-US" sz="369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5166"/>
              </a:lnSpc>
            </a:pPr>
            <a:r>
              <a:rPr lang="en-US" sz="3690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• One Bill can be linked to many prescriptions (M:1 relationship conceptually grouped) </a:t>
            </a:r>
          </a:p>
          <a:p>
            <a:pPr algn="just">
              <a:lnSpc>
                <a:spcPts val="5166"/>
              </a:lnSpc>
            </a:pPr>
            <a:endParaRPr lang="en-US" sz="369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ts val="5166"/>
              </a:lnSpc>
              <a:spcBef>
                <a:spcPct val="0"/>
              </a:spcBef>
            </a:pPr>
            <a:endParaRPr lang="en-US" sz="3690">
              <a:solidFill>
                <a:srgbClr val="000000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91467" y="1220403"/>
            <a:ext cx="15935666" cy="1029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351"/>
              </a:lnSpc>
            </a:pPr>
            <a:r>
              <a:rPr lang="en-US" sz="5965" b="1">
                <a:solidFill>
                  <a:srgbClr val="2F4A8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Relationship description 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40780" y="812101"/>
            <a:ext cx="15218189" cy="8446199"/>
          </a:xfrm>
          <a:custGeom>
            <a:avLst/>
            <a:gdLst/>
            <a:ahLst/>
            <a:cxnLst/>
            <a:rect l="l" t="t" r="r" b="b"/>
            <a:pathLst>
              <a:path w="15218189" h="8446199">
                <a:moveTo>
                  <a:pt x="0" y="0"/>
                </a:moveTo>
                <a:lnTo>
                  <a:pt x="15218189" y="0"/>
                </a:lnTo>
                <a:lnTo>
                  <a:pt x="15218189" y="8446199"/>
                </a:lnTo>
                <a:lnTo>
                  <a:pt x="0" y="8446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786" t="-389" r="-2170" b="-64921"/>
            </a:stretch>
          </a:blipFill>
        </p:spPr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73043" y="3333755"/>
            <a:ext cx="1276198" cy="1276198"/>
            <a:chOff x="0" y="0"/>
            <a:chExt cx="1701597" cy="17015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0205828" y="3333721"/>
            <a:ext cx="1276198" cy="1276198"/>
            <a:chOff x="0" y="0"/>
            <a:chExt cx="1701597" cy="17015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1709850" y="6809242"/>
            <a:ext cx="1276198" cy="1276198"/>
            <a:chOff x="0" y="0"/>
            <a:chExt cx="1701597" cy="170159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0205828" y="6713839"/>
            <a:ext cx="1276198" cy="1276198"/>
            <a:chOff x="0" y="0"/>
            <a:chExt cx="1701597" cy="170159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01546" cy="1701546"/>
            </a:xfrm>
            <a:custGeom>
              <a:avLst/>
              <a:gdLst/>
              <a:ahLst/>
              <a:cxnLst/>
              <a:rect l="l" t="t" r="r" b="b"/>
              <a:pathLst>
                <a:path w="1701546" h="1701546">
                  <a:moveTo>
                    <a:pt x="0" y="850773"/>
                  </a:moveTo>
                  <a:cubicBezTo>
                    <a:pt x="0" y="380873"/>
                    <a:pt x="380873" y="0"/>
                    <a:pt x="850773" y="0"/>
                  </a:cubicBezTo>
                  <a:cubicBezTo>
                    <a:pt x="1320673" y="0"/>
                    <a:pt x="1701546" y="380873"/>
                    <a:pt x="1701546" y="850773"/>
                  </a:cubicBezTo>
                  <a:cubicBezTo>
                    <a:pt x="1701546" y="1320673"/>
                    <a:pt x="1320673" y="1701546"/>
                    <a:pt x="850773" y="1701546"/>
                  </a:cubicBezTo>
                  <a:cubicBezTo>
                    <a:pt x="380873" y="1701546"/>
                    <a:pt x="0" y="1320673"/>
                    <a:pt x="0" y="850773"/>
                  </a:cubicBezTo>
                  <a:close/>
                </a:path>
              </a:pathLst>
            </a:custGeom>
            <a:solidFill>
              <a:srgbClr val="2F4A8A"/>
            </a:solidFill>
          </p:spPr>
        </p:sp>
      </p:grpSp>
      <p:sp>
        <p:nvSpPr>
          <p:cNvPr id="11" name="Freeform 11"/>
          <p:cNvSpPr/>
          <p:nvPr/>
        </p:nvSpPr>
        <p:spPr>
          <a:xfrm>
            <a:off x="1700541" y="3619052"/>
            <a:ext cx="621201" cy="705602"/>
          </a:xfrm>
          <a:custGeom>
            <a:avLst/>
            <a:gdLst/>
            <a:ahLst/>
            <a:cxnLst/>
            <a:rect l="l" t="t" r="r" b="b"/>
            <a:pathLst>
              <a:path w="621201" h="705602">
                <a:moveTo>
                  <a:pt x="0" y="0"/>
                </a:moveTo>
                <a:lnTo>
                  <a:pt x="621201" y="0"/>
                </a:lnTo>
                <a:lnTo>
                  <a:pt x="621201" y="705603"/>
                </a:lnTo>
                <a:lnTo>
                  <a:pt x="0" y="7056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544604" y="7000056"/>
            <a:ext cx="598684" cy="703764"/>
          </a:xfrm>
          <a:custGeom>
            <a:avLst/>
            <a:gdLst/>
            <a:ahLst/>
            <a:cxnLst/>
            <a:rect l="l" t="t" r="r" b="b"/>
            <a:pathLst>
              <a:path w="598684" h="703764">
                <a:moveTo>
                  <a:pt x="0" y="0"/>
                </a:moveTo>
                <a:lnTo>
                  <a:pt x="598684" y="0"/>
                </a:lnTo>
                <a:lnTo>
                  <a:pt x="598684" y="703764"/>
                </a:lnTo>
                <a:lnTo>
                  <a:pt x="0" y="70376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489235" y="3619052"/>
            <a:ext cx="709422" cy="705602"/>
          </a:xfrm>
          <a:custGeom>
            <a:avLst/>
            <a:gdLst/>
            <a:ahLst/>
            <a:cxnLst/>
            <a:rect l="l" t="t" r="r" b="b"/>
            <a:pathLst>
              <a:path w="709422" h="705602">
                <a:moveTo>
                  <a:pt x="0" y="0"/>
                </a:moveTo>
                <a:lnTo>
                  <a:pt x="709422" y="0"/>
                </a:lnTo>
                <a:lnTo>
                  <a:pt x="709422" y="705603"/>
                </a:lnTo>
                <a:lnTo>
                  <a:pt x="0" y="70560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825829" y="6925221"/>
            <a:ext cx="1044239" cy="1044239"/>
          </a:xfrm>
          <a:custGeom>
            <a:avLst/>
            <a:gdLst/>
            <a:ahLst/>
            <a:cxnLst/>
            <a:rect l="l" t="t" r="r" b="b"/>
            <a:pathLst>
              <a:path w="1044239" h="1044239">
                <a:moveTo>
                  <a:pt x="0" y="0"/>
                </a:moveTo>
                <a:lnTo>
                  <a:pt x="1044239" y="0"/>
                </a:lnTo>
                <a:lnTo>
                  <a:pt x="1044239" y="1044239"/>
                </a:lnTo>
                <a:lnTo>
                  <a:pt x="0" y="104423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1316318"/>
            <a:ext cx="15739248" cy="781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54"/>
              </a:lnSpc>
            </a:pPr>
            <a:r>
              <a:rPr lang="en-US" sz="5128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Trigger: After_Prescription_Detail_Insert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6047" y="3144912"/>
            <a:ext cx="5638804" cy="2359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870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Automatically updates the bill total when a new medicine is added to a prescription.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50939" y="6713839"/>
            <a:ext cx="5273912" cy="165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4"/>
              </a:lnSpc>
            </a:pPr>
            <a:r>
              <a:rPr lang="en-US" sz="3620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Retrieves the medicine price and calculates the total cost.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148776" y="3154437"/>
            <a:ext cx="5444284" cy="226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737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Updates the corresponding bill to maintain data consistency.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910060" y="6607970"/>
            <a:ext cx="5349240" cy="1678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06"/>
              </a:lnSpc>
            </a:pPr>
            <a:r>
              <a:rPr lang="en-US" sz="3671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Uses COALESCE() to prevent errors caused by NULL values.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9144000" cy="5864417"/>
          </a:xfrm>
          <a:custGeom>
            <a:avLst/>
            <a:gdLst/>
            <a:ahLst/>
            <a:cxnLst/>
            <a:rect l="l" t="t" r="r" b="b"/>
            <a:pathLst>
              <a:path w="9144000" h="5864417">
                <a:moveTo>
                  <a:pt x="0" y="0"/>
                </a:moveTo>
                <a:lnTo>
                  <a:pt x="9144000" y="0"/>
                </a:lnTo>
                <a:lnTo>
                  <a:pt x="9144000" y="5864417"/>
                </a:lnTo>
                <a:lnTo>
                  <a:pt x="0" y="5864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7788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86647" y="52235"/>
            <a:ext cx="8656480" cy="6359750"/>
          </a:xfrm>
          <a:custGeom>
            <a:avLst/>
            <a:gdLst/>
            <a:ahLst/>
            <a:cxnLst/>
            <a:rect l="l" t="t" r="r" b="b"/>
            <a:pathLst>
              <a:path w="8656480" h="6359750">
                <a:moveTo>
                  <a:pt x="0" y="0"/>
                </a:moveTo>
                <a:lnTo>
                  <a:pt x="8656480" y="0"/>
                </a:lnTo>
                <a:lnTo>
                  <a:pt x="8656480" y="6359750"/>
                </a:lnTo>
                <a:lnTo>
                  <a:pt x="0" y="6359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69" b="-569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939237" y="5864417"/>
            <a:ext cx="10154823" cy="4548848"/>
          </a:xfrm>
          <a:custGeom>
            <a:avLst/>
            <a:gdLst/>
            <a:ahLst/>
            <a:cxnLst/>
            <a:rect l="l" t="t" r="r" b="b"/>
            <a:pathLst>
              <a:path w="10154823" h="4548848">
                <a:moveTo>
                  <a:pt x="0" y="0"/>
                </a:moveTo>
                <a:lnTo>
                  <a:pt x="10154823" y="0"/>
                </a:lnTo>
                <a:lnTo>
                  <a:pt x="10154823" y="4548848"/>
                </a:lnTo>
                <a:lnTo>
                  <a:pt x="0" y="45488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47489" y="0"/>
            <a:ext cx="11983895" cy="7154720"/>
          </a:xfrm>
          <a:custGeom>
            <a:avLst/>
            <a:gdLst/>
            <a:ahLst/>
            <a:cxnLst/>
            <a:rect l="l" t="t" r="r" b="b"/>
            <a:pathLst>
              <a:path w="11983895" h="7154720">
                <a:moveTo>
                  <a:pt x="0" y="0"/>
                </a:moveTo>
                <a:lnTo>
                  <a:pt x="11983895" y="0"/>
                </a:lnTo>
                <a:lnTo>
                  <a:pt x="11983895" y="7154720"/>
                </a:lnTo>
                <a:lnTo>
                  <a:pt x="0" y="71547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722266" y="0"/>
            <a:ext cx="11247242" cy="5918038"/>
          </a:xfrm>
          <a:custGeom>
            <a:avLst/>
            <a:gdLst/>
            <a:ahLst/>
            <a:cxnLst/>
            <a:rect l="l" t="t" r="r" b="b"/>
            <a:pathLst>
              <a:path w="11247242" h="5918038">
                <a:moveTo>
                  <a:pt x="0" y="0"/>
                </a:moveTo>
                <a:lnTo>
                  <a:pt x="11247242" y="0"/>
                </a:lnTo>
                <a:lnTo>
                  <a:pt x="11247242" y="5918038"/>
                </a:lnTo>
                <a:lnTo>
                  <a:pt x="0" y="5918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02" r="-502" b="-1947"/>
            </a:stretch>
          </a:blipFill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3302" y="413404"/>
            <a:ext cx="18154755" cy="685800"/>
          </a:xfrm>
          <a:custGeom>
            <a:avLst/>
            <a:gdLst/>
            <a:ahLst/>
            <a:cxnLst/>
            <a:rect l="l" t="t" r="r" b="b"/>
            <a:pathLst>
              <a:path w="18154755" h="685800">
                <a:moveTo>
                  <a:pt x="0" y="0"/>
                </a:moveTo>
                <a:lnTo>
                  <a:pt x="18154755" y="0"/>
                </a:lnTo>
                <a:lnTo>
                  <a:pt x="18154755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rot="5393400">
            <a:off x="-4815088" y="5343639"/>
            <a:ext cx="9896866" cy="0"/>
          </a:xfrm>
          <a:prstGeom prst="line">
            <a:avLst/>
          </a:prstGeom>
          <a:ln w="9525" cap="rnd">
            <a:solidFill>
              <a:srgbClr val="7EACE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8373718" y="5062461"/>
            <a:ext cx="1276198" cy="1276198"/>
          </a:xfrm>
          <a:custGeom>
            <a:avLst/>
            <a:gdLst/>
            <a:ahLst/>
            <a:cxnLst/>
            <a:rect l="l" t="t" r="r" b="b"/>
            <a:pathLst>
              <a:path w="1276198" h="1276198">
                <a:moveTo>
                  <a:pt x="0" y="0"/>
                </a:moveTo>
                <a:lnTo>
                  <a:pt x="1276198" y="0"/>
                </a:lnTo>
                <a:lnTo>
                  <a:pt x="1276198" y="1276198"/>
                </a:lnTo>
                <a:lnTo>
                  <a:pt x="0" y="12761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4354070" y="5062461"/>
            <a:ext cx="1276198" cy="1276198"/>
          </a:xfrm>
          <a:custGeom>
            <a:avLst/>
            <a:gdLst/>
            <a:ahLst/>
            <a:cxnLst/>
            <a:rect l="l" t="t" r="r" b="b"/>
            <a:pathLst>
              <a:path w="1276198" h="1276198">
                <a:moveTo>
                  <a:pt x="0" y="0"/>
                </a:moveTo>
                <a:lnTo>
                  <a:pt x="1276198" y="0"/>
                </a:lnTo>
                <a:lnTo>
                  <a:pt x="1276198" y="1276198"/>
                </a:lnTo>
                <a:lnTo>
                  <a:pt x="0" y="127619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76700" y="5180395"/>
            <a:ext cx="1276198" cy="1276198"/>
          </a:xfrm>
          <a:custGeom>
            <a:avLst/>
            <a:gdLst/>
            <a:ahLst/>
            <a:cxnLst/>
            <a:rect l="l" t="t" r="r" b="b"/>
            <a:pathLst>
              <a:path w="1276198" h="1276198">
                <a:moveTo>
                  <a:pt x="0" y="0"/>
                </a:moveTo>
                <a:lnTo>
                  <a:pt x="1276198" y="0"/>
                </a:lnTo>
                <a:lnTo>
                  <a:pt x="1276198" y="1276197"/>
                </a:lnTo>
                <a:lnTo>
                  <a:pt x="0" y="12761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654428" y="5485071"/>
            <a:ext cx="920154" cy="782967"/>
          </a:xfrm>
          <a:custGeom>
            <a:avLst/>
            <a:gdLst/>
            <a:ahLst/>
            <a:cxnLst/>
            <a:rect l="l" t="t" r="r" b="b"/>
            <a:pathLst>
              <a:path w="920154" h="782967">
                <a:moveTo>
                  <a:pt x="0" y="0"/>
                </a:moveTo>
                <a:lnTo>
                  <a:pt x="920154" y="0"/>
                </a:lnTo>
                <a:lnTo>
                  <a:pt x="920154" y="782967"/>
                </a:lnTo>
                <a:lnTo>
                  <a:pt x="0" y="78296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535045" y="5292377"/>
            <a:ext cx="820843" cy="816366"/>
          </a:xfrm>
          <a:custGeom>
            <a:avLst/>
            <a:gdLst/>
            <a:ahLst/>
            <a:cxnLst/>
            <a:rect l="l" t="t" r="r" b="b"/>
            <a:pathLst>
              <a:path w="820843" h="816366">
                <a:moveTo>
                  <a:pt x="0" y="0"/>
                </a:moveTo>
                <a:lnTo>
                  <a:pt x="820843" y="0"/>
                </a:lnTo>
                <a:lnTo>
                  <a:pt x="820843" y="816366"/>
                </a:lnTo>
                <a:lnTo>
                  <a:pt x="0" y="81636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-239046" y="3548929"/>
            <a:ext cx="7299352" cy="1231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83"/>
              </a:lnSpc>
            </a:pPr>
            <a:r>
              <a:rPr lang="en-US" sz="4069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Query 1: Heart Disease Specialists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1390" y="6923364"/>
            <a:ext cx="6706383" cy="2440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676" lvl="1" indent="-350838" algn="l">
              <a:lnSpc>
                <a:spcPts val="3900"/>
              </a:lnSpc>
              <a:buFont typeface="Arial"/>
              <a:buChar char="•"/>
            </a:pPr>
            <a:r>
              <a:rPr lang="en-US" sz="3250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Retrieves doctors specialized in cardiology.</a:t>
            </a:r>
          </a:p>
          <a:p>
            <a:pPr marL="701675" lvl="1" indent="-350837" algn="l">
              <a:lnSpc>
                <a:spcPts val="3899"/>
              </a:lnSpc>
              <a:buFont typeface="Arial"/>
              <a:buChar char="•"/>
            </a:pPr>
            <a:r>
              <a:rPr lang="en-US" sz="3249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Uses LIKE to search for specializations containing "cardio".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761407" y="3522347"/>
            <a:ext cx="4827011" cy="1257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70"/>
              </a:lnSpc>
            </a:pPr>
            <a:r>
              <a:rPr lang="en-US" sz="4142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Query 3: Most Sold Medicine in 2023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84916" y="6741438"/>
            <a:ext cx="5779995" cy="2924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Calculates total quantities sold for each medicine in 2023.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Identifies the medicine(s) with the highest sales.</a:t>
            </a:r>
          </a:p>
          <a:p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lang="en-US" sz="2799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Handles ties by displaying all top-selling medicines.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33693" y="3548681"/>
            <a:ext cx="4753973" cy="1231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6"/>
              </a:lnSpc>
            </a:pPr>
            <a:r>
              <a:rPr lang="en-US" sz="4055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Query 2: Deficiency Diseases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60305" y="6710182"/>
            <a:ext cx="4766594" cy="2977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303" lvl="1" indent="-356651" algn="l">
              <a:lnSpc>
                <a:spcPts val="3964"/>
              </a:lnSpc>
              <a:buFont typeface="Arial"/>
              <a:buChar char="•"/>
            </a:pPr>
            <a:r>
              <a:rPr lang="en-US" sz="3303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Displays diseases classified as deficiency diseases.</a:t>
            </a:r>
          </a:p>
          <a:p>
            <a:pPr marL="713302" lvl="1" indent="-356651" algn="l">
              <a:lnSpc>
                <a:spcPts val="3964"/>
              </a:lnSpc>
              <a:buFont typeface="Arial"/>
              <a:buChar char="•"/>
            </a:pPr>
            <a:r>
              <a:rPr lang="en-US" sz="3303" b="1">
                <a:solidFill>
                  <a:srgbClr val="666666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Sorts the results alphabetically.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95773" y="1401857"/>
            <a:ext cx="3528627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30"/>
              </a:lnSpc>
            </a:pPr>
            <a:r>
              <a:rPr lang="en-US" sz="8275" dirty="0">
                <a:solidFill>
                  <a:srgbClr val="2F4A8A"/>
                </a:solidFill>
                <a:latin typeface="Alata"/>
                <a:ea typeface="Alata"/>
                <a:cs typeface="Alata"/>
                <a:sym typeface="Alata"/>
              </a:rPr>
              <a:t>Query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8" y="0"/>
            <a:ext cx="18288038" cy="685800"/>
          </a:xfrm>
          <a:custGeom>
            <a:avLst/>
            <a:gdLst/>
            <a:ahLst/>
            <a:cxnLst/>
            <a:rect l="l" t="t" r="r" b="b"/>
            <a:pathLst>
              <a:path w="18288038" h="685800">
                <a:moveTo>
                  <a:pt x="0" y="0"/>
                </a:moveTo>
                <a:lnTo>
                  <a:pt x="18288038" y="0"/>
                </a:lnTo>
                <a:lnTo>
                  <a:pt x="18288038" y="685800"/>
                </a:lnTo>
                <a:lnTo>
                  <a:pt x="0" y="685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10533646"/>
          </a:xfrm>
          <a:custGeom>
            <a:avLst/>
            <a:gdLst/>
            <a:ahLst/>
            <a:cxnLst/>
            <a:rect l="l" t="t" r="r" b="b"/>
            <a:pathLst>
              <a:path w="18288000" h="10533646">
                <a:moveTo>
                  <a:pt x="0" y="0"/>
                </a:moveTo>
                <a:lnTo>
                  <a:pt x="18288000" y="0"/>
                </a:lnTo>
                <a:lnTo>
                  <a:pt x="18288000" y="10533646"/>
                </a:lnTo>
                <a:lnTo>
                  <a:pt x="0" y="10533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602" t="-26799" r="-119672" b="-113708"/>
            </a:stretch>
          </a:blipFill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95137"/>
            <a:ext cx="18288000" cy="11677273"/>
          </a:xfrm>
          <a:custGeom>
            <a:avLst/>
            <a:gdLst/>
            <a:ahLst/>
            <a:cxnLst/>
            <a:rect l="l" t="t" r="r" b="b"/>
            <a:pathLst>
              <a:path w="18288000" h="11677273">
                <a:moveTo>
                  <a:pt x="0" y="0"/>
                </a:moveTo>
                <a:lnTo>
                  <a:pt x="18288000" y="0"/>
                </a:lnTo>
                <a:lnTo>
                  <a:pt x="18288000" y="11677274"/>
                </a:lnTo>
                <a:lnTo>
                  <a:pt x="0" y="116772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189" r="-74202" b="-70366"/>
            </a:stretch>
          </a:blipFill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90362" y="-761403"/>
            <a:ext cx="25617373" cy="13514812"/>
          </a:xfrm>
          <a:custGeom>
            <a:avLst/>
            <a:gdLst/>
            <a:ahLst/>
            <a:cxnLst/>
            <a:rect l="l" t="t" r="r" b="b"/>
            <a:pathLst>
              <a:path w="25617373" h="13514812">
                <a:moveTo>
                  <a:pt x="0" y="0"/>
                </a:moveTo>
                <a:lnTo>
                  <a:pt x="25617373" y="0"/>
                </a:lnTo>
                <a:lnTo>
                  <a:pt x="25617373" y="13514813"/>
                </a:lnTo>
                <a:lnTo>
                  <a:pt x="0" y="13514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33" r="-30571" b="-44264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1799</Words>
  <Application>Microsoft Office PowerPoint</Application>
  <PresentationFormat>Custom</PresentationFormat>
  <Paragraphs>433</Paragraphs>
  <Slides>58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70" baseType="lpstr">
      <vt:lpstr>Montserrat Bold</vt:lpstr>
      <vt:lpstr>Canva Sans</vt:lpstr>
      <vt:lpstr>Glacial Indifference</vt:lpstr>
      <vt:lpstr>Alata</vt:lpstr>
      <vt:lpstr>Glacial Indifference Italics</vt:lpstr>
      <vt:lpstr>Arial</vt:lpstr>
      <vt:lpstr>Canva Sans Bold</vt:lpstr>
      <vt:lpstr>Montserrat</vt:lpstr>
      <vt:lpstr>Canva Sans Italics</vt:lpstr>
      <vt:lpstr>Glacial Indifference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Center Website XL by Slidesgo (1).pptx</dc:title>
  <dc:creator>Basel Algamal</dc:creator>
  <cp:lastModifiedBy>Mariam Sabry Elgamal</cp:lastModifiedBy>
  <cp:revision>2</cp:revision>
  <dcterms:created xsi:type="dcterms:W3CDTF">2006-08-16T00:00:00Z</dcterms:created>
  <dcterms:modified xsi:type="dcterms:W3CDTF">2026-05-31T17:25:58Z</dcterms:modified>
  <dc:identifier>DAHLLZDWf1M</dc:identifier>
</cp:coreProperties>
</file>